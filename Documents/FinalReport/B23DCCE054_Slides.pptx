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Lst>
  <p:sldSz cx="18288000" cy="10287000"/>
  <p:notesSz cx="6858000" cy="9144000"/>
  <p:embeddedFontLst>
    <p:embeddedFont>
      <p:font typeface="Montserrat" charset="1" panose="00000500000000000000"/>
      <p:regular r:id="rId67"/>
    </p:embeddedFont>
    <p:embeddedFont>
      <p:font typeface="Canva Sans" charset="1" panose="020B0503030501040103"/>
      <p:regular r:id="rId68"/>
    </p:embeddedFont>
    <p:embeddedFont>
      <p:font typeface="Funtastic" charset="1" panose="00000000000000000000"/>
      <p:regular r:id="rId6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slides/slide50.xml" Type="http://schemas.openxmlformats.org/officeDocument/2006/relationships/slide"/><Relationship Id="rId56" Target="slides/slide51.xml" Type="http://schemas.openxmlformats.org/officeDocument/2006/relationships/slide"/><Relationship Id="rId57" Target="slides/slide52.xml" Type="http://schemas.openxmlformats.org/officeDocument/2006/relationships/slide"/><Relationship Id="rId58" Target="slides/slide53.xml" Type="http://schemas.openxmlformats.org/officeDocument/2006/relationships/slide"/><Relationship Id="rId59" Target="slides/slide54.xml" Type="http://schemas.openxmlformats.org/officeDocument/2006/relationships/slide"/><Relationship Id="rId6" Target="slides/slide1.xml" Type="http://schemas.openxmlformats.org/officeDocument/2006/relationships/slide"/><Relationship Id="rId60" Target="slides/slide55.xml" Type="http://schemas.openxmlformats.org/officeDocument/2006/relationships/slide"/><Relationship Id="rId61" Target="slides/slide56.xml" Type="http://schemas.openxmlformats.org/officeDocument/2006/relationships/slide"/><Relationship Id="rId62" Target="slides/slide57.xml" Type="http://schemas.openxmlformats.org/officeDocument/2006/relationships/slide"/><Relationship Id="rId63" Target="slides/slide58.xml" Type="http://schemas.openxmlformats.org/officeDocument/2006/relationships/slide"/><Relationship Id="rId64" Target="slides/slide59.xml" Type="http://schemas.openxmlformats.org/officeDocument/2006/relationships/slide"/><Relationship Id="rId65" Target="slides/slide60.xml" Type="http://schemas.openxmlformats.org/officeDocument/2006/relationships/slide"/><Relationship Id="rId66" Target="slides/slide61.xml" Type="http://schemas.openxmlformats.org/officeDocument/2006/relationships/slide"/><Relationship Id="rId67" Target="fonts/font67.fntdata" Type="http://schemas.openxmlformats.org/officeDocument/2006/relationships/font"/><Relationship Id="rId68" Target="fonts/font68.fntdata" Type="http://schemas.openxmlformats.org/officeDocument/2006/relationships/font"/><Relationship Id="rId69" Target="fonts/font69.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2.jpeg" Type="http://schemas.openxmlformats.org/officeDocument/2006/relationships/image"/><Relationship Id="rId7" Target="../media/image13.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1.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 Id="rId8" Target="../media/image2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 Id="rId8" Target="../media/image26.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7.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27.png" Type="http://schemas.openxmlformats.org/officeDocument/2006/relationships/image"/><Relationship Id="rId7" Target="../media/image29.png" Type="http://schemas.openxmlformats.org/officeDocument/2006/relationships/image"/><Relationship Id="rId8" Target="../media/image28.png" Type="http://schemas.openxmlformats.org/officeDocument/2006/relationships/image"/><Relationship Id="rId9" Target="../media/image30.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3.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5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5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5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6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s>
</file>

<file path=ppt/slides/_rels/slide6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572136" y="1917320"/>
            <a:ext cx="11533757" cy="5964824"/>
            <a:chOff x="0" y="0"/>
            <a:chExt cx="3037697" cy="1570982"/>
          </a:xfrm>
        </p:grpSpPr>
        <p:sp>
          <p:nvSpPr>
            <p:cNvPr name="Freeform 3" id="3"/>
            <p:cNvSpPr/>
            <p:nvPr/>
          </p:nvSpPr>
          <p:spPr>
            <a:xfrm flipH="false" flipV="false" rot="0">
              <a:off x="0" y="0"/>
              <a:ext cx="3037697" cy="1570983"/>
            </a:xfrm>
            <a:custGeom>
              <a:avLst/>
              <a:gdLst/>
              <a:ahLst/>
              <a:cxnLst/>
              <a:rect r="r" b="b" t="t" l="l"/>
              <a:pathLst>
                <a:path h="1570983" w="3037697">
                  <a:moveTo>
                    <a:pt x="33982" y="0"/>
                  </a:moveTo>
                  <a:lnTo>
                    <a:pt x="3003716" y="0"/>
                  </a:lnTo>
                  <a:cubicBezTo>
                    <a:pt x="3012728" y="0"/>
                    <a:pt x="3021372" y="3580"/>
                    <a:pt x="3027744" y="9953"/>
                  </a:cubicBezTo>
                  <a:cubicBezTo>
                    <a:pt x="3034117" y="16326"/>
                    <a:pt x="3037697" y="24969"/>
                    <a:pt x="3037697" y="33982"/>
                  </a:cubicBezTo>
                  <a:lnTo>
                    <a:pt x="3037697" y="1537001"/>
                  </a:lnTo>
                  <a:cubicBezTo>
                    <a:pt x="3037697" y="1555768"/>
                    <a:pt x="3022483" y="1570983"/>
                    <a:pt x="3003716" y="1570983"/>
                  </a:cubicBezTo>
                  <a:lnTo>
                    <a:pt x="33982" y="1570983"/>
                  </a:lnTo>
                  <a:cubicBezTo>
                    <a:pt x="24969" y="1570983"/>
                    <a:pt x="16326" y="1567402"/>
                    <a:pt x="9953" y="1561030"/>
                  </a:cubicBezTo>
                  <a:cubicBezTo>
                    <a:pt x="3580" y="1554657"/>
                    <a:pt x="0" y="1546013"/>
                    <a:pt x="0" y="1537001"/>
                  </a:cubicBezTo>
                  <a:lnTo>
                    <a:pt x="0" y="33982"/>
                  </a:lnTo>
                  <a:cubicBezTo>
                    <a:pt x="0" y="24969"/>
                    <a:pt x="3580" y="16326"/>
                    <a:pt x="9953" y="9953"/>
                  </a:cubicBezTo>
                  <a:cubicBezTo>
                    <a:pt x="16326" y="3580"/>
                    <a:pt x="24969" y="0"/>
                    <a:pt x="33982" y="0"/>
                  </a:cubicBezTo>
                  <a:close/>
                </a:path>
              </a:pathLst>
            </a:custGeom>
            <a:ln w="95250" cap="rnd">
              <a:solidFill>
                <a:srgbClr val="175286"/>
              </a:solidFill>
              <a:prstDash val="solid"/>
              <a:round/>
            </a:ln>
          </p:spPr>
        </p:sp>
        <p:sp>
          <p:nvSpPr>
            <p:cNvPr name="TextBox 4" id="4"/>
            <p:cNvSpPr txBox="true"/>
            <p:nvPr/>
          </p:nvSpPr>
          <p:spPr>
            <a:xfrm>
              <a:off x="0" y="-38100"/>
              <a:ext cx="3037697" cy="1609082"/>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true" flipV="false" rot="0">
            <a:off x="-1934951" y="-211543"/>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0">
            <a:off x="8982549" y="9039188"/>
            <a:ext cx="10624145" cy="1468064"/>
          </a:xfrm>
          <a:custGeom>
            <a:avLst/>
            <a:gdLst/>
            <a:ahLst/>
            <a:cxnLst/>
            <a:rect r="r" b="b" t="t" l="l"/>
            <a:pathLst>
              <a:path h="1468064" w="10624145">
                <a:moveTo>
                  <a:pt x="0" y="1468064"/>
                </a:moveTo>
                <a:lnTo>
                  <a:pt x="10624144" y="1468064"/>
                </a:lnTo>
                <a:lnTo>
                  <a:pt x="10624144"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3202338">
            <a:off x="-903036" y="7764069"/>
            <a:ext cx="4318969" cy="4114800"/>
          </a:xfrm>
          <a:custGeom>
            <a:avLst/>
            <a:gdLst/>
            <a:ahLst/>
            <a:cxnLst/>
            <a:rect r="r" b="b" t="t" l="l"/>
            <a:pathLst>
              <a:path h="4114800" w="4318969">
                <a:moveTo>
                  <a:pt x="0" y="0"/>
                </a:moveTo>
                <a:lnTo>
                  <a:pt x="4318969" y="0"/>
                </a:lnTo>
                <a:lnTo>
                  <a:pt x="431896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3202338">
            <a:off x="15554641" y="-1028700"/>
            <a:ext cx="4318969" cy="4114800"/>
          </a:xfrm>
          <a:custGeom>
            <a:avLst/>
            <a:gdLst/>
            <a:ahLst/>
            <a:cxnLst/>
            <a:rect r="r" b="b" t="t" l="l"/>
            <a:pathLst>
              <a:path h="4114800" w="4318969">
                <a:moveTo>
                  <a:pt x="0" y="0"/>
                </a:moveTo>
                <a:lnTo>
                  <a:pt x="4318970" y="0"/>
                </a:lnTo>
                <a:lnTo>
                  <a:pt x="4318970"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6820842" y="2272389"/>
            <a:ext cx="4550931" cy="2483101"/>
          </a:xfrm>
          <a:custGeom>
            <a:avLst/>
            <a:gdLst/>
            <a:ahLst/>
            <a:cxnLst/>
            <a:rect r="r" b="b" t="t" l="l"/>
            <a:pathLst>
              <a:path h="2483101" w="4550931">
                <a:moveTo>
                  <a:pt x="0" y="0"/>
                </a:moveTo>
                <a:lnTo>
                  <a:pt x="4550930" y="0"/>
                </a:lnTo>
                <a:lnTo>
                  <a:pt x="4550930" y="2483101"/>
                </a:lnTo>
                <a:lnTo>
                  <a:pt x="0" y="2483101"/>
                </a:lnTo>
                <a:lnTo>
                  <a:pt x="0" y="0"/>
                </a:lnTo>
                <a:close/>
              </a:path>
            </a:pathLst>
          </a:custGeom>
          <a:blipFill>
            <a:blip r:embed="rId6"/>
            <a:stretch>
              <a:fillRect l="0" t="0" r="0" b="0"/>
            </a:stretch>
          </a:blipFill>
        </p:spPr>
      </p:sp>
      <p:sp>
        <p:nvSpPr>
          <p:cNvPr name="TextBox 10" id="10"/>
          <p:cNvSpPr txBox="true"/>
          <p:nvPr/>
        </p:nvSpPr>
        <p:spPr>
          <a:xfrm rot="0">
            <a:off x="4552641" y="7022873"/>
            <a:ext cx="9182718" cy="437147"/>
          </a:xfrm>
          <a:prstGeom prst="rect">
            <a:avLst/>
          </a:prstGeom>
        </p:spPr>
        <p:txBody>
          <a:bodyPr anchor="t" rtlCol="false" tIns="0" lIns="0" bIns="0" rIns="0">
            <a:spAutoFit/>
          </a:bodyPr>
          <a:lstStyle/>
          <a:p>
            <a:pPr algn="ctr">
              <a:lnSpc>
                <a:spcPts val="3152"/>
              </a:lnSpc>
            </a:pPr>
            <a:r>
              <a:rPr lang="en-US" sz="3990">
                <a:solidFill>
                  <a:srgbClr val="175286"/>
                </a:solidFill>
                <a:latin typeface="Montserrat"/>
                <a:ea typeface="Montserrat"/>
                <a:cs typeface="Montserrat"/>
                <a:sym typeface="Montserrat"/>
              </a:rPr>
              <a:t>Vũ Gia Khánh</a:t>
            </a:r>
          </a:p>
        </p:txBody>
      </p:sp>
      <p:sp>
        <p:nvSpPr>
          <p:cNvPr name="TextBox 11" id="11"/>
          <p:cNvSpPr txBox="true"/>
          <p:nvPr/>
        </p:nvSpPr>
        <p:spPr>
          <a:xfrm rot="0">
            <a:off x="3802139" y="4937339"/>
            <a:ext cx="11415025" cy="1112520"/>
          </a:xfrm>
          <a:prstGeom prst="rect">
            <a:avLst/>
          </a:prstGeom>
        </p:spPr>
        <p:txBody>
          <a:bodyPr anchor="t" rtlCol="false" tIns="0" lIns="0" bIns="0" rIns="0">
            <a:spAutoFit/>
          </a:bodyPr>
          <a:lstStyle/>
          <a:p>
            <a:pPr algn="ctr">
              <a:lnSpc>
                <a:spcPts val="2880"/>
              </a:lnSpc>
            </a:pPr>
            <a:r>
              <a:rPr lang="en-US" sz="3200">
                <a:solidFill>
                  <a:srgbClr val="175286"/>
                </a:solidFill>
                <a:latin typeface="Canva Sans"/>
                <a:ea typeface="Canva Sans"/>
                <a:cs typeface="Canva Sans"/>
                <a:sym typeface="Canva Sans"/>
              </a:rPr>
              <a:t>GIẢI PHÁP THƯƠNG MẠI ĐIỆN TỬ ĐA DỤNG </a:t>
            </a:r>
          </a:p>
          <a:p>
            <a:pPr algn="ctr">
              <a:lnSpc>
                <a:spcPts val="2880"/>
              </a:lnSpc>
            </a:pPr>
            <a:r>
              <a:rPr lang="en-US" sz="3200">
                <a:solidFill>
                  <a:srgbClr val="175286"/>
                </a:solidFill>
                <a:latin typeface="Canva Sans"/>
                <a:ea typeface="Canva Sans"/>
                <a:cs typeface="Canva Sans"/>
                <a:sym typeface="Canva Sans"/>
              </a:rPr>
              <a:t>HỖ TRỢ TRIỂN KHAI MÔ HÌNH KINH DOANH TRỰC TUYẾN </a:t>
            </a:r>
          </a:p>
          <a:p>
            <a:pPr algn="ctr">
              <a:lnSpc>
                <a:spcPts val="2880"/>
              </a:lnSpc>
            </a:pPr>
            <a:r>
              <a:rPr lang="en-US" sz="3200">
                <a:solidFill>
                  <a:srgbClr val="175286"/>
                </a:solidFill>
                <a:latin typeface="Canva Sans"/>
                <a:ea typeface="Canva Sans"/>
                <a:cs typeface="Canva Sans"/>
                <a:sym typeface="Canva Sans"/>
              </a:rPr>
              <a:t>CHO CÁ NHÂN, HỘ KINH DOANH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4417" y="6539926"/>
            <a:ext cx="1496813" cy="1434219"/>
          </a:xfrm>
          <a:custGeom>
            <a:avLst/>
            <a:gdLst/>
            <a:ahLst/>
            <a:cxnLst/>
            <a:rect r="r" b="b" t="t" l="l"/>
            <a:pathLst>
              <a:path h="1434219" w="1496813">
                <a:moveTo>
                  <a:pt x="0" y="0"/>
                </a:moveTo>
                <a:lnTo>
                  <a:pt x="1496813" y="0"/>
                </a:lnTo>
                <a:lnTo>
                  <a:pt x="1496813" y="1434219"/>
                </a:lnTo>
                <a:lnTo>
                  <a:pt x="0" y="14342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697115" y="1251120"/>
            <a:ext cx="1580571" cy="1514474"/>
          </a:xfrm>
          <a:custGeom>
            <a:avLst/>
            <a:gdLst/>
            <a:ahLst/>
            <a:cxnLst/>
            <a:rect r="r" b="b" t="t" l="l"/>
            <a:pathLst>
              <a:path h="1514474" w="1580571">
                <a:moveTo>
                  <a:pt x="0" y="0"/>
                </a:moveTo>
                <a:lnTo>
                  <a:pt x="1580570" y="0"/>
                </a:lnTo>
                <a:lnTo>
                  <a:pt x="1580570" y="1514474"/>
                </a:lnTo>
                <a:lnTo>
                  <a:pt x="0" y="1514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557514">
            <a:off x="-1292817" y="1483922"/>
            <a:ext cx="4489933" cy="2563343"/>
          </a:xfrm>
          <a:custGeom>
            <a:avLst/>
            <a:gdLst/>
            <a:ahLst/>
            <a:cxnLst/>
            <a:rect r="r" b="b" t="t" l="l"/>
            <a:pathLst>
              <a:path h="2563343" w="4489933">
                <a:moveTo>
                  <a:pt x="0" y="0"/>
                </a:moveTo>
                <a:lnTo>
                  <a:pt x="4489932" y="0"/>
                </a:lnTo>
                <a:lnTo>
                  <a:pt x="4489932" y="2563344"/>
                </a:lnTo>
                <a:lnTo>
                  <a:pt x="0" y="25633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2609480">
            <a:off x="15168727" y="6336740"/>
            <a:ext cx="4489933" cy="2563343"/>
          </a:xfrm>
          <a:custGeom>
            <a:avLst/>
            <a:gdLst/>
            <a:ahLst/>
            <a:cxnLst/>
            <a:rect r="r" b="b" t="t" l="l"/>
            <a:pathLst>
              <a:path h="2563343" w="4489933">
                <a:moveTo>
                  <a:pt x="4489932" y="2563344"/>
                </a:moveTo>
                <a:lnTo>
                  <a:pt x="0" y="2563344"/>
                </a:lnTo>
                <a:lnTo>
                  <a:pt x="0" y="0"/>
                </a:lnTo>
                <a:lnTo>
                  <a:pt x="4489932" y="0"/>
                </a:lnTo>
                <a:lnTo>
                  <a:pt x="4489932" y="25633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813489" y="3278252"/>
            <a:ext cx="10921041" cy="2562224"/>
          </a:xfrm>
          <a:prstGeom prst="rect">
            <a:avLst/>
          </a:prstGeom>
        </p:spPr>
        <p:txBody>
          <a:bodyPr anchor="t" rtlCol="false" tIns="0" lIns="0" bIns="0" rIns="0">
            <a:spAutoFit/>
          </a:bodyPr>
          <a:lstStyle/>
          <a:p>
            <a:pPr algn="ctr">
              <a:lnSpc>
                <a:spcPts val="8999"/>
              </a:lnSpc>
            </a:pPr>
            <a:r>
              <a:rPr lang="en-US" sz="9999">
                <a:solidFill>
                  <a:srgbClr val="175286"/>
                </a:solidFill>
                <a:latin typeface="Funtastic"/>
                <a:ea typeface="Funtastic"/>
                <a:cs typeface="Funtastic"/>
                <a:sym typeface="Funtastic"/>
              </a:rPr>
              <a:t> LÝ DO CHỌN ĐỀ TÀI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Lý do chọn đề tài</a:t>
            </a:r>
          </a:p>
        </p:txBody>
      </p:sp>
      <p:sp>
        <p:nvSpPr>
          <p:cNvPr name="TextBox 7" id="7"/>
          <p:cNvSpPr txBox="true"/>
          <p:nvPr/>
        </p:nvSpPr>
        <p:spPr>
          <a:xfrm rot="0">
            <a:off x="1304970" y="3570792"/>
            <a:ext cx="9951998" cy="3439903"/>
          </a:xfrm>
          <a:prstGeom prst="rect">
            <a:avLst/>
          </a:prstGeom>
        </p:spPr>
        <p:txBody>
          <a:bodyPr anchor="t" rtlCol="false" tIns="0" lIns="0" bIns="0" rIns="0">
            <a:spAutoFit/>
          </a:bodyPr>
          <a:lstStyle/>
          <a:p>
            <a:pPr algn="just">
              <a:lnSpc>
                <a:spcPts val="3419"/>
              </a:lnSpc>
            </a:pPr>
            <a:r>
              <a:rPr lang="en-US" sz="3108">
                <a:solidFill>
                  <a:srgbClr val="175286"/>
                </a:solidFill>
                <a:latin typeface="Montserrat"/>
                <a:ea typeface="Montserrat"/>
                <a:cs typeface="Montserrat"/>
                <a:sym typeface="Montserrat"/>
              </a:rPr>
              <a:t>Trong bối cảnh chuyển đổi số đang diễn ra mạnh mẽ tại Việt Nam, thương mại điện tử đã và đang trở thành xu hướng tất yếu của nền kinh tế. Theo các báo cáo và những tin tức gần đây, số lượng cá nhân và hộ kinh doanh có nhu cầu bán hàng trực tuyến ngày càng tăng cao, tuy nhiên phần lớn trong số họ vẫn gặp khó khăn trong việc tiếp cận các nền tảng thương mại điện tử hiện có</a:t>
            </a:r>
          </a:p>
        </p:txBody>
      </p:sp>
      <p:sp>
        <p:nvSpPr>
          <p:cNvPr name="Freeform 8" id="8"/>
          <p:cNvSpPr/>
          <p:nvPr/>
        </p:nvSpPr>
        <p:spPr>
          <a:xfrm flipH="false" flipV="false" rot="0">
            <a:off x="15678729" y="1990347"/>
            <a:ext cx="1580571" cy="1514474"/>
          </a:xfrm>
          <a:custGeom>
            <a:avLst/>
            <a:gdLst/>
            <a:ahLst/>
            <a:cxnLst/>
            <a:rect r="r" b="b" t="t" l="l"/>
            <a:pathLst>
              <a:path h="1514474" w="1580571">
                <a:moveTo>
                  <a:pt x="0" y="0"/>
                </a:moveTo>
                <a:lnTo>
                  <a:pt x="1580571" y="0"/>
                </a:lnTo>
                <a:lnTo>
                  <a:pt x="1580571" y="1514474"/>
                </a:lnTo>
                <a:lnTo>
                  <a:pt x="0" y="1514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255924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Các sàn giao dịch lớn như Shopee, Lazada hay Tiki, dù phổ biến, lại đặt ra nhiều rào cản như phí sàn cao, yêu cầu chi phí vận hành đắt đỏ và phức tạp, thiếu tính linh hoạt cho những người bán nhỏ lẻ. Trong khi đó, việc tự xây dựng một website bán hàng riêng lại đòi hỏi chi phí đầu tư lớn và kiến thức kỹ thuật chuyên sâu, vượt quá khả năng của đa số cá nhân và hộ kinh doanh nhỏ. </a:t>
            </a:r>
          </a:p>
        </p:txBody>
      </p:sp>
      <p:sp>
        <p:nvSpPr>
          <p:cNvPr name="Freeform 7" id="7"/>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344160" y="1022642"/>
            <a:ext cx="6682174" cy="4908212"/>
          </a:xfrm>
          <a:custGeom>
            <a:avLst/>
            <a:gdLst/>
            <a:ahLst/>
            <a:cxnLst/>
            <a:rect r="r" b="b" t="t" l="l"/>
            <a:pathLst>
              <a:path h="4908212" w="6682174">
                <a:moveTo>
                  <a:pt x="0" y="0"/>
                </a:moveTo>
                <a:lnTo>
                  <a:pt x="6682174" y="0"/>
                </a:lnTo>
                <a:lnTo>
                  <a:pt x="6682174" y="4908212"/>
                </a:lnTo>
                <a:lnTo>
                  <a:pt x="0" y="4908212"/>
                </a:lnTo>
                <a:lnTo>
                  <a:pt x="0" y="0"/>
                </a:lnTo>
                <a:close/>
              </a:path>
            </a:pathLst>
          </a:custGeom>
          <a:blipFill>
            <a:blip r:embed="rId6"/>
            <a:stretch>
              <a:fillRect l="-17838" t="-13713" r="-23146" b="-6249"/>
            </a:stretch>
          </a:blipFill>
        </p:spPr>
      </p:sp>
      <p:sp>
        <p:nvSpPr>
          <p:cNvPr name="Freeform 9" id="9"/>
          <p:cNvSpPr/>
          <p:nvPr/>
        </p:nvSpPr>
        <p:spPr>
          <a:xfrm flipH="false" flipV="false" rot="0">
            <a:off x="12907632" y="6717868"/>
            <a:ext cx="2502029" cy="2678155"/>
          </a:xfrm>
          <a:custGeom>
            <a:avLst/>
            <a:gdLst/>
            <a:ahLst/>
            <a:cxnLst/>
            <a:rect r="r" b="b" t="t" l="l"/>
            <a:pathLst>
              <a:path h="2678155" w="2502029">
                <a:moveTo>
                  <a:pt x="0" y="0"/>
                </a:moveTo>
                <a:lnTo>
                  <a:pt x="2502029" y="0"/>
                </a:lnTo>
                <a:lnTo>
                  <a:pt x="2502029" y="2678156"/>
                </a:lnTo>
                <a:lnTo>
                  <a:pt x="0" y="2678156"/>
                </a:lnTo>
                <a:lnTo>
                  <a:pt x="0" y="0"/>
                </a:lnTo>
                <a:close/>
              </a:path>
            </a:pathLst>
          </a:custGeom>
          <a:blipFill>
            <a:blip r:embed="rId7"/>
            <a:stretch>
              <a:fillRect l="0" t="0" r="0" b="0"/>
            </a:stretch>
          </a:blipFill>
        </p:spPr>
      </p:sp>
      <p:sp>
        <p:nvSpPr>
          <p:cNvPr name="TextBox 10" id="10"/>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Lý do chọn đề tài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255924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Các sàn giao dịch lớn như Shopee, Lazada hay Tiki, dù phổ biến, lại đặt ra nhiều rào cản như phí sàn cao, yêu cầu chi phí vận hành đắt đỏ và phức tạp, thiếu tính linh hoạt cho những người bán nhỏ lẻ. Trong khi đó, việc tự xây dựng một website bán hàng riêng lại đòi hỏi chi phí đầu tư lớn và kiến thức kỹ thuật chuyên sâu, vượt quá khả năng của đa số cá nhân và hộ kinh doanh nhỏ. </a:t>
            </a:r>
          </a:p>
        </p:txBody>
      </p:sp>
      <p:sp>
        <p:nvSpPr>
          <p:cNvPr name="Freeform 7" id="7"/>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344160" y="1022642"/>
            <a:ext cx="6682174" cy="4908212"/>
          </a:xfrm>
          <a:custGeom>
            <a:avLst/>
            <a:gdLst/>
            <a:ahLst/>
            <a:cxnLst/>
            <a:rect r="r" b="b" t="t" l="l"/>
            <a:pathLst>
              <a:path h="4908212" w="6682174">
                <a:moveTo>
                  <a:pt x="0" y="0"/>
                </a:moveTo>
                <a:lnTo>
                  <a:pt x="6682174" y="0"/>
                </a:lnTo>
                <a:lnTo>
                  <a:pt x="6682174" y="4908212"/>
                </a:lnTo>
                <a:lnTo>
                  <a:pt x="0" y="4908212"/>
                </a:lnTo>
                <a:lnTo>
                  <a:pt x="0" y="0"/>
                </a:lnTo>
                <a:close/>
              </a:path>
            </a:pathLst>
          </a:custGeom>
          <a:blipFill>
            <a:blip r:embed="rId6"/>
            <a:stretch>
              <a:fillRect l="-17838" t="-13713" r="-23146" b="-6249"/>
            </a:stretch>
          </a:blipFill>
        </p:spPr>
      </p:sp>
      <p:sp>
        <p:nvSpPr>
          <p:cNvPr name="Freeform 9" id="9"/>
          <p:cNvSpPr/>
          <p:nvPr/>
        </p:nvSpPr>
        <p:spPr>
          <a:xfrm flipH="false" flipV="false" rot="0">
            <a:off x="12907632" y="6717868"/>
            <a:ext cx="2502029" cy="2678155"/>
          </a:xfrm>
          <a:custGeom>
            <a:avLst/>
            <a:gdLst/>
            <a:ahLst/>
            <a:cxnLst/>
            <a:rect r="r" b="b" t="t" l="l"/>
            <a:pathLst>
              <a:path h="2678155" w="2502029">
                <a:moveTo>
                  <a:pt x="0" y="0"/>
                </a:moveTo>
                <a:lnTo>
                  <a:pt x="2502029" y="0"/>
                </a:lnTo>
                <a:lnTo>
                  <a:pt x="2502029" y="2678156"/>
                </a:lnTo>
                <a:lnTo>
                  <a:pt x="0" y="2678156"/>
                </a:lnTo>
                <a:lnTo>
                  <a:pt x="0" y="0"/>
                </a:lnTo>
                <a:close/>
              </a:path>
            </a:pathLst>
          </a:custGeom>
          <a:blipFill>
            <a:blip r:embed="rId7"/>
            <a:stretch>
              <a:fillRect l="0" t="0" r="0" b="0"/>
            </a:stretch>
          </a:blipFill>
        </p:spPr>
      </p:sp>
      <p:sp>
        <p:nvSpPr>
          <p:cNvPr name="TextBox 10" id="10"/>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Lý do chọn đề tài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255924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Các sàn giao dịch lớn như Shopee, Lazada hay Tiki, dù phổ biến, lại đặt ra nhiều rào cản như phí sàn cao, yêu cầu chi phí vận hành đắt đỏ và phức tạp, thiếu tính linh hoạt cho những người bán nhỏ lẻ. Trong khi đó, việc tự xây dựng một website bán hàng riêng lại đòi hỏi chi phí đầu tư lớn và kiến thức kỹ thuật chuyên sâu, vượt quá khả năng của đa số cá nhân và hộ kinh doanh nhỏ. </a:t>
            </a:r>
          </a:p>
        </p:txBody>
      </p:sp>
      <p:sp>
        <p:nvSpPr>
          <p:cNvPr name="Freeform 7" id="7"/>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9344160" y="1022642"/>
            <a:ext cx="6682174" cy="4908212"/>
          </a:xfrm>
          <a:custGeom>
            <a:avLst/>
            <a:gdLst/>
            <a:ahLst/>
            <a:cxnLst/>
            <a:rect r="r" b="b" t="t" l="l"/>
            <a:pathLst>
              <a:path h="4908212" w="6682174">
                <a:moveTo>
                  <a:pt x="0" y="0"/>
                </a:moveTo>
                <a:lnTo>
                  <a:pt x="6682174" y="0"/>
                </a:lnTo>
                <a:lnTo>
                  <a:pt x="6682174" y="4908212"/>
                </a:lnTo>
                <a:lnTo>
                  <a:pt x="0" y="4908212"/>
                </a:lnTo>
                <a:lnTo>
                  <a:pt x="0" y="0"/>
                </a:lnTo>
                <a:close/>
              </a:path>
            </a:pathLst>
          </a:custGeom>
          <a:blipFill>
            <a:blip r:embed="rId6"/>
            <a:stretch>
              <a:fillRect l="-17838" t="-13713" r="-23146" b="-6249"/>
            </a:stretch>
          </a:blipFill>
        </p:spPr>
      </p:sp>
      <p:sp>
        <p:nvSpPr>
          <p:cNvPr name="TextBox 9" id="9"/>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Lý do chọn đề tài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1922006"/>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Dự án không chỉ củng cố kiến thức chuyên môn về quy trình phát triển phần mềm mà còn mang tính ứng dụng thực tiễn cao, có thể giúp nhiều cá nhân khởi nghiệp thông qua kinh doanh và trong tương lai còn là môi trường thử nghiệm cho việc tích hợp thêm các mô AI.</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Lý do chọn đề tài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617471" y="1689384"/>
            <a:ext cx="7981946" cy="3943081"/>
          </a:xfrm>
          <a:custGeom>
            <a:avLst/>
            <a:gdLst/>
            <a:ahLst/>
            <a:cxnLst/>
            <a:rect r="r" b="b" t="t" l="l"/>
            <a:pathLst>
              <a:path h="3943081" w="7981946">
                <a:moveTo>
                  <a:pt x="0" y="0"/>
                </a:moveTo>
                <a:lnTo>
                  <a:pt x="7981946" y="0"/>
                </a:lnTo>
                <a:lnTo>
                  <a:pt x="7981946" y="3943081"/>
                </a:lnTo>
                <a:lnTo>
                  <a:pt x="0" y="3943081"/>
                </a:lnTo>
                <a:lnTo>
                  <a:pt x="0" y="0"/>
                </a:lnTo>
                <a:close/>
              </a:path>
            </a:pathLst>
          </a:custGeom>
          <a:blipFill>
            <a:blip r:embed="rId6"/>
            <a:stretch>
              <a:fillRect l="0" t="0" r="0" b="0"/>
            </a:stretch>
          </a:blipFill>
        </p:spPr>
      </p:sp>
      <p:sp>
        <p:nvSpPr>
          <p:cNvPr name="TextBox 8" id="8"/>
          <p:cNvSpPr txBox="true"/>
          <p:nvPr/>
        </p:nvSpPr>
        <p:spPr>
          <a:xfrm rot="0">
            <a:off x="1077454" y="3626272"/>
            <a:ext cx="7397816" cy="1922006"/>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Dự án không chỉ củng cố kiến thức chuyên môn về quy trình phát triển phần mềm mà còn mang tính ứng dụng thực tiễn cao, có thể giúp nhiều cá nhân khởi nghiệp thông qua kinh doanh và trong tương lai còn là môi trường thử nghiệm cho việc tích hợp thêm các mô AI.</a:t>
            </a:r>
          </a:p>
        </p:txBody>
      </p:sp>
      <p:sp>
        <p:nvSpPr>
          <p:cNvPr name="TextBox 9" id="9"/>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Lý do chọn đề tài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617471" y="1689384"/>
            <a:ext cx="7981946" cy="3943081"/>
          </a:xfrm>
          <a:custGeom>
            <a:avLst/>
            <a:gdLst/>
            <a:ahLst/>
            <a:cxnLst/>
            <a:rect r="r" b="b" t="t" l="l"/>
            <a:pathLst>
              <a:path h="3943081" w="7981946">
                <a:moveTo>
                  <a:pt x="0" y="0"/>
                </a:moveTo>
                <a:lnTo>
                  <a:pt x="7981946" y="0"/>
                </a:lnTo>
                <a:lnTo>
                  <a:pt x="7981946" y="3943081"/>
                </a:lnTo>
                <a:lnTo>
                  <a:pt x="0" y="3943081"/>
                </a:lnTo>
                <a:lnTo>
                  <a:pt x="0" y="0"/>
                </a:lnTo>
                <a:close/>
              </a:path>
            </a:pathLst>
          </a:custGeom>
          <a:blipFill>
            <a:blip r:embed="rId6"/>
            <a:stretch>
              <a:fillRect l="0" t="0" r="0" b="0"/>
            </a:stretch>
          </a:blipFill>
        </p:spPr>
      </p:sp>
      <p:sp>
        <p:nvSpPr>
          <p:cNvPr name="Freeform 8" id="8"/>
          <p:cNvSpPr/>
          <p:nvPr/>
        </p:nvSpPr>
        <p:spPr>
          <a:xfrm flipH="false" flipV="false" rot="0">
            <a:off x="9846814" y="5970380"/>
            <a:ext cx="6457898" cy="3628518"/>
          </a:xfrm>
          <a:custGeom>
            <a:avLst/>
            <a:gdLst/>
            <a:ahLst/>
            <a:cxnLst/>
            <a:rect r="r" b="b" t="t" l="l"/>
            <a:pathLst>
              <a:path h="3628518" w="6457898">
                <a:moveTo>
                  <a:pt x="0" y="0"/>
                </a:moveTo>
                <a:lnTo>
                  <a:pt x="6457898" y="0"/>
                </a:lnTo>
                <a:lnTo>
                  <a:pt x="6457898" y="3628518"/>
                </a:lnTo>
                <a:lnTo>
                  <a:pt x="0" y="3628518"/>
                </a:lnTo>
                <a:lnTo>
                  <a:pt x="0" y="0"/>
                </a:lnTo>
                <a:close/>
              </a:path>
            </a:pathLst>
          </a:custGeom>
          <a:blipFill>
            <a:blip r:embed="rId7"/>
            <a:stretch>
              <a:fillRect l="0" t="0" r="0" b="0"/>
            </a:stretch>
          </a:blipFill>
        </p:spPr>
      </p:sp>
      <p:sp>
        <p:nvSpPr>
          <p:cNvPr name="TextBox 9" id="9"/>
          <p:cNvSpPr txBox="true"/>
          <p:nvPr/>
        </p:nvSpPr>
        <p:spPr>
          <a:xfrm rot="0">
            <a:off x="1077454" y="3626272"/>
            <a:ext cx="7397816" cy="1922006"/>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Dự án không chỉ củng cố kiến thức chuyên môn về quy trình phát triển phần mềm mà còn mang tính ứng dụng thực tiễn cao, có thể giúp nhiều cá nhân khởi nghiệp thông qua kinh doanh và trong tương lai còn là môi trường thử nghiệm cho việc tích hợp thêm các mô hình AI.</a:t>
            </a:r>
          </a:p>
        </p:txBody>
      </p:sp>
      <p:sp>
        <p:nvSpPr>
          <p:cNvPr name="TextBox 10" id="10"/>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Lý do chọn đề tài</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4417" y="6539926"/>
            <a:ext cx="1496813" cy="1434219"/>
          </a:xfrm>
          <a:custGeom>
            <a:avLst/>
            <a:gdLst/>
            <a:ahLst/>
            <a:cxnLst/>
            <a:rect r="r" b="b" t="t" l="l"/>
            <a:pathLst>
              <a:path h="1434219" w="1496813">
                <a:moveTo>
                  <a:pt x="0" y="0"/>
                </a:moveTo>
                <a:lnTo>
                  <a:pt x="1496813" y="0"/>
                </a:lnTo>
                <a:lnTo>
                  <a:pt x="1496813" y="1434219"/>
                </a:lnTo>
                <a:lnTo>
                  <a:pt x="0" y="14342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697115" y="1251120"/>
            <a:ext cx="1580571" cy="1514474"/>
          </a:xfrm>
          <a:custGeom>
            <a:avLst/>
            <a:gdLst/>
            <a:ahLst/>
            <a:cxnLst/>
            <a:rect r="r" b="b" t="t" l="l"/>
            <a:pathLst>
              <a:path h="1514474" w="1580571">
                <a:moveTo>
                  <a:pt x="0" y="0"/>
                </a:moveTo>
                <a:lnTo>
                  <a:pt x="1580570" y="0"/>
                </a:lnTo>
                <a:lnTo>
                  <a:pt x="1580570" y="1514474"/>
                </a:lnTo>
                <a:lnTo>
                  <a:pt x="0" y="1514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557514">
            <a:off x="-1292817" y="1483922"/>
            <a:ext cx="4489933" cy="2563343"/>
          </a:xfrm>
          <a:custGeom>
            <a:avLst/>
            <a:gdLst/>
            <a:ahLst/>
            <a:cxnLst/>
            <a:rect r="r" b="b" t="t" l="l"/>
            <a:pathLst>
              <a:path h="2563343" w="4489933">
                <a:moveTo>
                  <a:pt x="0" y="0"/>
                </a:moveTo>
                <a:lnTo>
                  <a:pt x="4489932" y="0"/>
                </a:lnTo>
                <a:lnTo>
                  <a:pt x="4489932" y="2563344"/>
                </a:lnTo>
                <a:lnTo>
                  <a:pt x="0" y="25633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2609480">
            <a:off x="15168727" y="6336740"/>
            <a:ext cx="4489933" cy="2563343"/>
          </a:xfrm>
          <a:custGeom>
            <a:avLst/>
            <a:gdLst/>
            <a:ahLst/>
            <a:cxnLst/>
            <a:rect r="r" b="b" t="t" l="l"/>
            <a:pathLst>
              <a:path h="2563343" w="4489933">
                <a:moveTo>
                  <a:pt x="4489932" y="2563344"/>
                </a:moveTo>
                <a:lnTo>
                  <a:pt x="0" y="2563344"/>
                </a:lnTo>
                <a:lnTo>
                  <a:pt x="0" y="0"/>
                </a:lnTo>
                <a:lnTo>
                  <a:pt x="4489932" y="0"/>
                </a:lnTo>
                <a:lnTo>
                  <a:pt x="4489932" y="25633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813489" y="3278252"/>
            <a:ext cx="10921041" cy="2562224"/>
          </a:xfrm>
          <a:prstGeom prst="rect">
            <a:avLst/>
          </a:prstGeom>
        </p:spPr>
        <p:txBody>
          <a:bodyPr anchor="t" rtlCol="false" tIns="0" lIns="0" bIns="0" rIns="0">
            <a:spAutoFit/>
          </a:bodyPr>
          <a:lstStyle/>
          <a:p>
            <a:pPr algn="ctr">
              <a:lnSpc>
                <a:spcPts val="8999"/>
              </a:lnSpc>
            </a:pPr>
            <a:r>
              <a:rPr lang="en-US" sz="9999">
                <a:solidFill>
                  <a:srgbClr val="175286"/>
                </a:solidFill>
                <a:latin typeface="Funtastic"/>
                <a:ea typeface="Funtastic"/>
                <a:cs typeface="Funtastic"/>
                <a:sym typeface="Funtastic"/>
              </a:rPr>
              <a:t>MỤC TIÊU CỦA ĐỀ TÀI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028346" y="1136643"/>
            <a:ext cx="6452785" cy="3633325"/>
          </a:xfrm>
          <a:custGeom>
            <a:avLst/>
            <a:gdLst/>
            <a:ahLst/>
            <a:cxnLst/>
            <a:rect r="r" b="b" t="t" l="l"/>
            <a:pathLst>
              <a:path h="3633325" w="6452785">
                <a:moveTo>
                  <a:pt x="0" y="0"/>
                </a:moveTo>
                <a:lnTo>
                  <a:pt x="6452785" y="0"/>
                </a:lnTo>
                <a:lnTo>
                  <a:pt x="6452785" y="3633326"/>
                </a:lnTo>
                <a:lnTo>
                  <a:pt x="0" y="3633326"/>
                </a:lnTo>
                <a:lnTo>
                  <a:pt x="0" y="0"/>
                </a:lnTo>
                <a:close/>
              </a:path>
            </a:pathLst>
          </a:custGeom>
          <a:blipFill>
            <a:blip r:embed="rId6"/>
            <a:stretch>
              <a:fillRect l="0" t="0" r="0" b="0"/>
            </a:stretch>
          </a:blipFill>
        </p:spPr>
      </p:sp>
      <p:sp>
        <p:nvSpPr>
          <p:cNvPr name="TextBox 8" id="8"/>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Xây dựng một nền tảng thương mại điện tử đa người bán (Multi-Vendor), cho phép nhiều người bán cùng hoạt động trên một hệ thống duy nhất. </a:t>
            </a:r>
          </a:p>
        </p:txBody>
      </p:sp>
      <p:sp>
        <p:nvSpPr>
          <p:cNvPr name="TextBox 9" id="9"/>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Mục tiêu của đề tài</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028346" y="1136643"/>
            <a:ext cx="6452785" cy="3633325"/>
          </a:xfrm>
          <a:custGeom>
            <a:avLst/>
            <a:gdLst/>
            <a:ahLst/>
            <a:cxnLst/>
            <a:rect r="r" b="b" t="t" l="l"/>
            <a:pathLst>
              <a:path h="3633325" w="6452785">
                <a:moveTo>
                  <a:pt x="0" y="0"/>
                </a:moveTo>
                <a:lnTo>
                  <a:pt x="6452785" y="0"/>
                </a:lnTo>
                <a:lnTo>
                  <a:pt x="6452785" y="3633326"/>
                </a:lnTo>
                <a:lnTo>
                  <a:pt x="0" y="3633326"/>
                </a:lnTo>
                <a:lnTo>
                  <a:pt x="0" y="0"/>
                </a:lnTo>
                <a:close/>
              </a:path>
            </a:pathLst>
          </a:custGeom>
          <a:blipFill>
            <a:blip r:embed="rId6"/>
            <a:stretch>
              <a:fillRect l="0" t="0" r="0" b="0"/>
            </a:stretch>
          </a:blipFill>
        </p:spPr>
      </p:sp>
      <p:sp>
        <p:nvSpPr>
          <p:cNvPr name="Freeform 8" id="8"/>
          <p:cNvSpPr/>
          <p:nvPr/>
        </p:nvSpPr>
        <p:spPr>
          <a:xfrm flipH="false" flipV="false" rot="0">
            <a:off x="9423215" y="4933836"/>
            <a:ext cx="3013076" cy="4038143"/>
          </a:xfrm>
          <a:custGeom>
            <a:avLst/>
            <a:gdLst/>
            <a:ahLst/>
            <a:cxnLst/>
            <a:rect r="r" b="b" t="t" l="l"/>
            <a:pathLst>
              <a:path h="4038143" w="3013076">
                <a:moveTo>
                  <a:pt x="0" y="0"/>
                </a:moveTo>
                <a:lnTo>
                  <a:pt x="3013076" y="0"/>
                </a:lnTo>
                <a:lnTo>
                  <a:pt x="3013076" y="4038143"/>
                </a:lnTo>
                <a:lnTo>
                  <a:pt x="0" y="4038143"/>
                </a:lnTo>
                <a:lnTo>
                  <a:pt x="0" y="0"/>
                </a:lnTo>
                <a:close/>
              </a:path>
            </a:pathLst>
          </a:custGeom>
          <a:blipFill>
            <a:blip r:embed="rId7"/>
            <a:stretch>
              <a:fillRect l="0" t="0" r="0" b="0"/>
            </a:stretch>
          </a:blipFill>
        </p:spPr>
      </p:sp>
      <p:sp>
        <p:nvSpPr>
          <p:cNvPr name="TextBox 9" id="9"/>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Xây dựng một nền tảng thương mại điện tử đa người bán (Multi-Vendor), cho phép nhiều người bán cùng hoạt động trên một hệ thống duy nhất. </a:t>
            </a:r>
          </a:p>
        </p:txBody>
      </p:sp>
      <p:sp>
        <p:nvSpPr>
          <p:cNvPr name="TextBox 10" id="10"/>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Mục tiêu của đề tài</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028346" y="1136643"/>
            <a:ext cx="6452785" cy="3633325"/>
          </a:xfrm>
          <a:custGeom>
            <a:avLst/>
            <a:gdLst/>
            <a:ahLst/>
            <a:cxnLst/>
            <a:rect r="r" b="b" t="t" l="l"/>
            <a:pathLst>
              <a:path h="3633325" w="6452785">
                <a:moveTo>
                  <a:pt x="0" y="0"/>
                </a:moveTo>
                <a:lnTo>
                  <a:pt x="6452785" y="0"/>
                </a:lnTo>
                <a:lnTo>
                  <a:pt x="6452785" y="3633326"/>
                </a:lnTo>
                <a:lnTo>
                  <a:pt x="0" y="3633326"/>
                </a:lnTo>
                <a:lnTo>
                  <a:pt x="0" y="0"/>
                </a:lnTo>
                <a:close/>
              </a:path>
            </a:pathLst>
          </a:custGeom>
          <a:blipFill>
            <a:blip r:embed="rId6"/>
            <a:stretch>
              <a:fillRect l="0" t="0" r="0" b="0"/>
            </a:stretch>
          </a:blipFill>
        </p:spPr>
      </p:sp>
      <p:sp>
        <p:nvSpPr>
          <p:cNvPr name="Freeform 8" id="8"/>
          <p:cNvSpPr/>
          <p:nvPr/>
        </p:nvSpPr>
        <p:spPr>
          <a:xfrm flipH="false" flipV="false" rot="0">
            <a:off x="9423215" y="4933836"/>
            <a:ext cx="3013076" cy="4038143"/>
          </a:xfrm>
          <a:custGeom>
            <a:avLst/>
            <a:gdLst/>
            <a:ahLst/>
            <a:cxnLst/>
            <a:rect r="r" b="b" t="t" l="l"/>
            <a:pathLst>
              <a:path h="4038143" w="3013076">
                <a:moveTo>
                  <a:pt x="0" y="0"/>
                </a:moveTo>
                <a:lnTo>
                  <a:pt x="3013076" y="0"/>
                </a:lnTo>
                <a:lnTo>
                  <a:pt x="3013076" y="4038143"/>
                </a:lnTo>
                <a:lnTo>
                  <a:pt x="0" y="4038143"/>
                </a:lnTo>
                <a:lnTo>
                  <a:pt x="0" y="0"/>
                </a:lnTo>
                <a:close/>
              </a:path>
            </a:pathLst>
          </a:custGeom>
          <a:blipFill>
            <a:blip r:embed="rId7"/>
            <a:stretch>
              <a:fillRect l="0" t="0" r="0" b="0"/>
            </a:stretch>
          </a:blipFill>
        </p:spPr>
      </p:sp>
      <p:sp>
        <p:nvSpPr>
          <p:cNvPr name="Freeform 9" id="9"/>
          <p:cNvSpPr/>
          <p:nvPr/>
        </p:nvSpPr>
        <p:spPr>
          <a:xfrm flipH="false" flipV="false" rot="0">
            <a:off x="12967304" y="5115273"/>
            <a:ext cx="3558585" cy="3558585"/>
          </a:xfrm>
          <a:custGeom>
            <a:avLst/>
            <a:gdLst/>
            <a:ahLst/>
            <a:cxnLst/>
            <a:rect r="r" b="b" t="t" l="l"/>
            <a:pathLst>
              <a:path h="3558585" w="3558585">
                <a:moveTo>
                  <a:pt x="0" y="0"/>
                </a:moveTo>
                <a:lnTo>
                  <a:pt x="3558584" y="0"/>
                </a:lnTo>
                <a:lnTo>
                  <a:pt x="3558584" y="3558584"/>
                </a:lnTo>
                <a:lnTo>
                  <a:pt x="0" y="3558584"/>
                </a:lnTo>
                <a:lnTo>
                  <a:pt x="0" y="0"/>
                </a:lnTo>
                <a:close/>
              </a:path>
            </a:pathLst>
          </a:custGeom>
          <a:blipFill>
            <a:blip r:embed="rId8"/>
            <a:stretch>
              <a:fillRect l="0" t="0" r="0" b="0"/>
            </a:stretch>
          </a:blipFill>
        </p:spPr>
      </p:sp>
      <p:sp>
        <p:nvSpPr>
          <p:cNvPr name="TextBox 10" id="10"/>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Xây dựng một nền tảng thương mại điện tử đa người bán (Multi-Vendor), cho phép nhiều người bán cùng hoạt động trên một hệ thống duy nhất. </a:t>
            </a:r>
          </a:p>
        </p:txBody>
      </p:sp>
      <p:sp>
        <p:nvSpPr>
          <p:cNvPr name="TextBox 11" id="11"/>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Mục tiêu của đề tài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028346" y="1136643"/>
            <a:ext cx="6452785" cy="3633325"/>
          </a:xfrm>
          <a:custGeom>
            <a:avLst/>
            <a:gdLst/>
            <a:ahLst/>
            <a:cxnLst/>
            <a:rect r="r" b="b" t="t" l="l"/>
            <a:pathLst>
              <a:path h="3633325" w="6452785">
                <a:moveTo>
                  <a:pt x="0" y="0"/>
                </a:moveTo>
                <a:lnTo>
                  <a:pt x="6452785" y="0"/>
                </a:lnTo>
                <a:lnTo>
                  <a:pt x="6452785" y="3633326"/>
                </a:lnTo>
                <a:lnTo>
                  <a:pt x="0" y="3633326"/>
                </a:lnTo>
                <a:lnTo>
                  <a:pt x="0" y="0"/>
                </a:lnTo>
                <a:close/>
              </a:path>
            </a:pathLst>
          </a:custGeom>
          <a:blipFill>
            <a:blip r:embed="rId6"/>
            <a:stretch>
              <a:fillRect l="0" t="0" r="0" b="0"/>
            </a:stretch>
          </a:blipFill>
        </p:spPr>
      </p:sp>
      <p:sp>
        <p:nvSpPr>
          <p:cNvPr name="Freeform 8" id="8"/>
          <p:cNvSpPr/>
          <p:nvPr/>
        </p:nvSpPr>
        <p:spPr>
          <a:xfrm flipH="false" flipV="false" rot="0">
            <a:off x="9423215" y="4933836"/>
            <a:ext cx="3013076" cy="4038143"/>
          </a:xfrm>
          <a:custGeom>
            <a:avLst/>
            <a:gdLst/>
            <a:ahLst/>
            <a:cxnLst/>
            <a:rect r="r" b="b" t="t" l="l"/>
            <a:pathLst>
              <a:path h="4038143" w="3013076">
                <a:moveTo>
                  <a:pt x="0" y="0"/>
                </a:moveTo>
                <a:lnTo>
                  <a:pt x="3013076" y="0"/>
                </a:lnTo>
                <a:lnTo>
                  <a:pt x="3013076" y="4038143"/>
                </a:lnTo>
                <a:lnTo>
                  <a:pt x="0" y="4038143"/>
                </a:lnTo>
                <a:lnTo>
                  <a:pt x="0" y="0"/>
                </a:lnTo>
                <a:close/>
              </a:path>
            </a:pathLst>
          </a:custGeom>
          <a:blipFill>
            <a:blip r:embed="rId7"/>
            <a:stretch>
              <a:fillRect l="0" t="0" r="0" b="0"/>
            </a:stretch>
          </a:blipFill>
        </p:spPr>
      </p:sp>
      <p:sp>
        <p:nvSpPr>
          <p:cNvPr name="Freeform 9" id="9"/>
          <p:cNvSpPr/>
          <p:nvPr/>
        </p:nvSpPr>
        <p:spPr>
          <a:xfrm flipH="false" flipV="false" rot="0">
            <a:off x="12967304" y="5115273"/>
            <a:ext cx="3558585" cy="3558585"/>
          </a:xfrm>
          <a:custGeom>
            <a:avLst/>
            <a:gdLst/>
            <a:ahLst/>
            <a:cxnLst/>
            <a:rect r="r" b="b" t="t" l="l"/>
            <a:pathLst>
              <a:path h="3558585" w="3558585">
                <a:moveTo>
                  <a:pt x="0" y="0"/>
                </a:moveTo>
                <a:lnTo>
                  <a:pt x="3558584" y="0"/>
                </a:lnTo>
                <a:lnTo>
                  <a:pt x="3558584" y="3558584"/>
                </a:lnTo>
                <a:lnTo>
                  <a:pt x="0" y="3558584"/>
                </a:lnTo>
                <a:lnTo>
                  <a:pt x="0" y="0"/>
                </a:lnTo>
                <a:close/>
              </a:path>
            </a:pathLst>
          </a:custGeom>
          <a:blipFill>
            <a:blip r:embed="rId8"/>
            <a:stretch>
              <a:fillRect l="0" t="0" r="0" b="0"/>
            </a:stretch>
          </a:blipFill>
        </p:spPr>
      </p:sp>
      <p:sp>
        <p:nvSpPr>
          <p:cNvPr name="TextBox 10" id="10"/>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Xây dựng một nền tảng thương mại điện tử đa người bán (Multi-Vendor), cho phép nhiều người bán cùng hoạt động trên một hệ thống duy nhất. </a:t>
            </a:r>
          </a:p>
        </p:txBody>
      </p:sp>
      <p:sp>
        <p:nvSpPr>
          <p:cNvPr name="TextBox 11" id="11"/>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Mục tiêu của đề tài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Phát triển đầy đủ các phân hệ: Khách hàng (Customer), Người bán (Vendor) và Quản trị viên hệ thống (Admin) với phân quyền rõ ràng.</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Mục tiêu của đề tài</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Phát triển đầy đủ các phân hệ: Khách hàng (Customer), Người bán (Vendor) và Quản trị viên hệ thống (Admin) với phân quyền rõ ràng.</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Mục tiêu của đề tài</a:t>
            </a:r>
          </a:p>
        </p:txBody>
      </p:sp>
      <p:sp>
        <p:nvSpPr>
          <p:cNvPr name="TextBox 9" id="9"/>
          <p:cNvSpPr txBox="true"/>
          <p:nvPr/>
        </p:nvSpPr>
        <p:spPr>
          <a:xfrm rot="0">
            <a:off x="1116095" y="4851250"/>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các tính năng nâng cao: hệ thống voucher/mã giảm giá, ,ví sàn cho Vendor, thông báo và nhắn tin thời gian thực.</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Phát triển đầy đủ các phân hệ: Khách hàng (Customer), Người bán (Vendor) và Quản trị viên hệ thống (Admin) với phân quyền rõ ràng.</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Mục tiêu của đề tài</a:t>
            </a:r>
          </a:p>
        </p:txBody>
      </p:sp>
      <p:sp>
        <p:nvSpPr>
          <p:cNvPr name="TextBox 9" id="9"/>
          <p:cNvSpPr txBox="true"/>
          <p:nvPr/>
        </p:nvSpPr>
        <p:spPr>
          <a:xfrm rot="0">
            <a:off x="1116095" y="4851250"/>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các tính năng nâng cao: hệ thống voucher/mã giảm giá, ,ví sàn cho Vendor, thông báo và nhắn tin thời gian thực.</a:t>
            </a:r>
          </a:p>
        </p:txBody>
      </p:sp>
      <p:sp>
        <p:nvSpPr>
          <p:cNvPr name="TextBox 10" id="10"/>
          <p:cNvSpPr txBox="true"/>
          <p:nvPr/>
        </p:nvSpPr>
        <p:spPr>
          <a:xfrm rot="0">
            <a:off x="1089732" y="6059977"/>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Tạo giao diện thân thiện, tương thích với nhiều thiết bị (Responsive Design) sử dụng Bootstrap 5</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Phát triển đầy đủ các phân hệ: Khách hàng (Customer), Người bán (Vendor) và Quản trị viên hệ thống (Admin) với phân quyền rõ ràng.</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Mục tiêu của đề tài</a:t>
            </a:r>
          </a:p>
        </p:txBody>
      </p:sp>
      <p:sp>
        <p:nvSpPr>
          <p:cNvPr name="TextBox 9" id="9"/>
          <p:cNvSpPr txBox="true"/>
          <p:nvPr/>
        </p:nvSpPr>
        <p:spPr>
          <a:xfrm rot="0">
            <a:off x="1116095" y="4851250"/>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các tính năng nâng cao: hệ thống voucher/mã giảm giá, ,ví sàn cho Vendor, thông báo và nhắn tin thời gian thực.</a:t>
            </a:r>
          </a:p>
        </p:txBody>
      </p:sp>
      <p:sp>
        <p:nvSpPr>
          <p:cNvPr name="TextBox 10" id="10"/>
          <p:cNvSpPr txBox="true"/>
          <p:nvPr/>
        </p:nvSpPr>
        <p:spPr>
          <a:xfrm rot="0">
            <a:off x="1089732" y="6059977"/>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Tạo giao diện thân thiện, tương thích với nhiều thiết bị (Responsive Design) sử dụng Bootstrap 5</a:t>
            </a:r>
          </a:p>
        </p:txBody>
      </p:sp>
      <p:sp>
        <p:nvSpPr>
          <p:cNvPr name="TextBox 11" id="11"/>
          <p:cNvSpPr txBox="true"/>
          <p:nvPr/>
        </p:nvSpPr>
        <p:spPr>
          <a:xfrm rot="0">
            <a:off x="9333055" y="351943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Thực hành ap dụng các tiêu chuẩn bảo mật Web hiện đại (ASP.NET Core Identity, chống XSS, SQL Injection) để bảo vệ dữ liệu người dùng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4417" y="6539926"/>
            <a:ext cx="1496813" cy="1434219"/>
          </a:xfrm>
          <a:custGeom>
            <a:avLst/>
            <a:gdLst/>
            <a:ahLst/>
            <a:cxnLst/>
            <a:rect r="r" b="b" t="t" l="l"/>
            <a:pathLst>
              <a:path h="1434219" w="1496813">
                <a:moveTo>
                  <a:pt x="0" y="0"/>
                </a:moveTo>
                <a:lnTo>
                  <a:pt x="1496813" y="0"/>
                </a:lnTo>
                <a:lnTo>
                  <a:pt x="1496813" y="1434219"/>
                </a:lnTo>
                <a:lnTo>
                  <a:pt x="0" y="14342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697115" y="1251120"/>
            <a:ext cx="1580571" cy="1514474"/>
          </a:xfrm>
          <a:custGeom>
            <a:avLst/>
            <a:gdLst/>
            <a:ahLst/>
            <a:cxnLst/>
            <a:rect r="r" b="b" t="t" l="l"/>
            <a:pathLst>
              <a:path h="1514474" w="1580571">
                <a:moveTo>
                  <a:pt x="0" y="0"/>
                </a:moveTo>
                <a:lnTo>
                  <a:pt x="1580570" y="0"/>
                </a:lnTo>
                <a:lnTo>
                  <a:pt x="1580570" y="1514474"/>
                </a:lnTo>
                <a:lnTo>
                  <a:pt x="0" y="1514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557514">
            <a:off x="-1292817" y="1483922"/>
            <a:ext cx="4489933" cy="2563343"/>
          </a:xfrm>
          <a:custGeom>
            <a:avLst/>
            <a:gdLst/>
            <a:ahLst/>
            <a:cxnLst/>
            <a:rect r="r" b="b" t="t" l="l"/>
            <a:pathLst>
              <a:path h="2563343" w="4489933">
                <a:moveTo>
                  <a:pt x="0" y="0"/>
                </a:moveTo>
                <a:lnTo>
                  <a:pt x="4489932" y="0"/>
                </a:lnTo>
                <a:lnTo>
                  <a:pt x="4489932" y="2563344"/>
                </a:lnTo>
                <a:lnTo>
                  <a:pt x="0" y="25633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2609480">
            <a:off x="15168727" y="6336740"/>
            <a:ext cx="4489933" cy="2563343"/>
          </a:xfrm>
          <a:custGeom>
            <a:avLst/>
            <a:gdLst/>
            <a:ahLst/>
            <a:cxnLst/>
            <a:rect r="r" b="b" t="t" l="l"/>
            <a:pathLst>
              <a:path h="2563343" w="4489933">
                <a:moveTo>
                  <a:pt x="4489932" y="2563344"/>
                </a:moveTo>
                <a:lnTo>
                  <a:pt x="0" y="2563344"/>
                </a:lnTo>
                <a:lnTo>
                  <a:pt x="0" y="0"/>
                </a:lnTo>
                <a:lnTo>
                  <a:pt x="4489932" y="0"/>
                </a:lnTo>
                <a:lnTo>
                  <a:pt x="4489932" y="25633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813489" y="3278252"/>
            <a:ext cx="10921041" cy="2562224"/>
          </a:xfrm>
          <a:prstGeom prst="rect">
            <a:avLst/>
          </a:prstGeom>
        </p:spPr>
        <p:txBody>
          <a:bodyPr anchor="t" rtlCol="false" tIns="0" lIns="0" bIns="0" rIns="0">
            <a:spAutoFit/>
          </a:bodyPr>
          <a:lstStyle/>
          <a:p>
            <a:pPr algn="ctr">
              <a:lnSpc>
                <a:spcPts val="8999"/>
              </a:lnSpc>
            </a:pPr>
            <a:r>
              <a:rPr lang="en-US" sz="9999">
                <a:solidFill>
                  <a:srgbClr val="175286"/>
                </a:solidFill>
                <a:latin typeface="Funtastic"/>
                <a:ea typeface="Funtastic"/>
                <a:cs typeface="Funtastic"/>
                <a:sym typeface="Funtastic"/>
              </a:rPr>
              <a:t> ĐỐI TƯỢNG SỬ DỤNG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Khách hàng (Customer): Những cá nhân có nhu cầu tìm kiếm, so sánh và mua sắm các sản phẩm đa dạng từ nhiều gian hàng khác nhau</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Đối tượng sử dụng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830502" y="2392807"/>
            <a:ext cx="4427564" cy="5923917"/>
          </a:xfrm>
          <a:custGeom>
            <a:avLst/>
            <a:gdLst/>
            <a:ahLst/>
            <a:cxnLst/>
            <a:rect r="r" b="b" t="t" l="l"/>
            <a:pathLst>
              <a:path h="5923917" w="4427564">
                <a:moveTo>
                  <a:pt x="0" y="0"/>
                </a:moveTo>
                <a:lnTo>
                  <a:pt x="4427564" y="0"/>
                </a:lnTo>
                <a:lnTo>
                  <a:pt x="4427564" y="5923917"/>
                </a:lnTo>
                <a:lnTo>
                  <a:pt x="0" y="5923917"/>
                </a:lnTo>
                <a:lnTo>
                  <a:pt x="0" y="0"/>
                </a:lnTo>
                <a:close/>
              </a:path>
            </a:pathLst>
          </a:custGeom>
          <a:blipFill>
            <a:blip r:embed="rId6"/>
            <a:stretch>
              <a:fillRect l="0" t="0" r="0" b="0"/>
            </a:stretch>
          </a:blipFill>
        </p:spPr>
      </p:sp>
      <p:sp>
        <p:nvSpPr>
          <p:cNvPr name="TextBox 8" id="8"/>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Khách hàng (Customer): Những cá nhân có nhu cầu tìm kiếm, so sánh và mua sắm các sản phẩm đa dạng từ nhiều gian hàng khác nhau</a:t>
            </a:r>
          </a:p>
        </p:txBody>
      </p:sp>
      <p:sp>
        <p:nvSpPr>
          <p:cNvPr name="TextBox 9" id="9"/>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Đối tượng sử dụng </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Người bán (Vendor): Các cá nhân, hộ kinh doanh muốn thiết lập và vận hành gian hàng trực tuyến, quản lý sản phẩm, đơn hàng và doanh thu.</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Đối tượng sử dụng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916382" y="2414820"/>
            <a:ext cx="7905305" cy="5205933"/>
          </a:xfrm>
          <a:custGeom>
            <a:avLst/>
            <a:gdLst/>
            <a:ahLst/>
            <a:cxnLst/>
            <a:rect r="r" b="b" t="t" l="l"/>
            <a:pathLst>
              <a:path h="5205933" w="7905305">
                <a:moveTo>
                  <a:pt x="0" y="0"/>
                </a:moveTo>
                <a:lnTo>
                  <a:pt x="7905305" y="0"/>
                </a:lnTo>
                <a:lnTo>
                  <a:pt x="7905305" y="5205932"/>
                </a:lnTo>
                <a:lnTo>
                  <a:pt x="0" y="5205932"/>
                </a:lnTo>
                <a:lnTo>
                  <a:pt x="0" y="0"/>
                </a:lnTo>
                <a:close/>
              </a:path>
            </a:pathLst>
          </a:custGeom>
          <a:blipFill>
            <a:blip r:embed="rId6"/>
            <a:stretch>
              <a:fillRect l="0" t="0" r="0" b="0"/>
            </a:stretch>
          </a:blipFill>
        </p:spPr>
      </p:sp>
      <p:sp>
        <p:nvSpPr>
          <p:cNvPr name="TextBox 8" id="8"/>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Người bán (Vendor): Các cá nhân, hộ kinh doanh muốn thiết lập và vận hành gian hàng trực tuyến, quản lý sản phẩm, đơn hàng và doanh thu.</a:t>
            </a:r>
          </a:p>
        </p:txBody>
      </p:sp>
      <p:sp>
        <p:nvSpPr>
          <p:cNvPr name="TextBox 9" id="9"/>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Đối tượng sử dụng </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Quản trị viên hệ thống (Admin): Người phụ trách vận hành toàn bộ nền tảng và có thể thay đổi cấu hình hệ thống.</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Đối tượng sử dụng </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055691" y="3053598"/>
            <a:ext cx="6172200" cy="4114800"/>
          </a:xfrm>
          <a:custGeom>
            <a:avLst/>
            <a:gdLst/>
            <a:ahLst/>
            <a:cxnLst/>
            <a:rect r="r" b="b" t="t" l="l"/>
            <a:pathLst>
              <a:path h="4114800" w="6172200">
                <a:moveTo>
                  <a:pt x="0" y="0"/>
                </a:moveTo>
                <a:lnTo>
                  <a:pt x="6172200" y="0"/>
                </a:lnTo>
                <a:lnTo>
                  <a:pt x="617220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Quản trị viên hệ thống (Admin): Người phụ trách vận hành toàn bộ nền tảng và có thể thay đổi cấu hình hệ thống.</a:t>
            </a:r>
          </a:p>
        </p:txBody>
      </p:sp>
      <p:sp>
        <p:nvSpPr>
          <p:cNvPr name="TextBox 9" id="9"/>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 Đối tượng sử dụng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4417" y="6539926"/>
            <a:ext cx="1496813" cy="1434219"/>
          </a:xfrm>
          <a:custGeom>
            <a:avLst/>
            <a:gdLst/>
            <a:ahLst/>
            <a:cxnLst/>
            <a:rect r="r" b="b" t="t" l="l"/>
            <a:pathLst>
              <a:path h="1434219" w="1496813">
                <a:moveTo>
                  <a:pt x="0" y="0"/>
                </a:moveTo>
                <a:lnTo>
                  <a:pt x="1496813" y="0"/>
                </a:lnTo>
                <a:lnTo>
                  <a:pt x="1496813" y="1434219"/>
                </a:lnTo>
                <a:lnTo>
                  <a:pt x="0" y="14342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697115" y="1251120"/>
            <a:ext cx="1580571" cy="1514474"/>
          </a:xfrm>
          <a:custGeom>
            <a:avLst/>
            <a:gdLst/>
            <a:ahLst/>
            <a:cxnLst/>
            <a:rect r="r" b="b" t="t" l="l"/>
            <a:pathLst>
              <a:path h="1514474" w="1580571">
                <a:moveTo>
                  <a:pt x="0" y="0"/>
                </a:moveTo>
                <a:lnTo>
                  <a:pt x="1580570" y="0"/>
                </a:lnTo>
                <a:lnTo>
                  <a:pt x="1580570" y="1514474"/>
                </a:lnTo>
                <a:lnTo>
                  <a:pt x="0" y="1514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557514">
            <a:off x="-1292817" y="1483922"/>
            <a:ext cx="4489933" cy="2563343"/>
          </a:xfrm>
          <a:custGeom>
            <a:avLst/>
            <a:gdLst/>
            <a:ahLst/>
            <a:cxnLst/>
            <a:rect r="r" b="b" t="t" l="l"/>
            <a:pathLst>
              <a:path h="2563343" w="4489933">
                <a:moveTo>
                  <a:pt x="0" y="0"/>
                </a:moveTo>
                <a:lnTo>
                  <a:pt x="4489932" y="0"/>
                </a:lnTo>
                <a:lnTo>
                  <a:pt x="4489932" y="2563344"/>
                </a:lnTo>
                <a:lnTo>
                  <a:pt x="0" y="25633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2609480">
            <a:off x="15168727" y="6336740"/>
            <a:ext cx="4489933" cy="2563343"/>
          </a:xfrm>
          <a:custGeom>
            <a:avLst/>
            <a:gdLst/>
            <a:ahLst/>
            <a:cxnLst/>
            <a:rect r="r" b="b" t="t" l="l"/>
            <a:pathLst>
              <a:path h="2563343" w="4489933">
                <a:moveTo>
                  <a:pt x="4489932" y="2563344"/>
                </a:moveTo>
                <a:lnTo>
                  <a:pt x="0" y="2563344"/>
                </a:lnTo>
                <a:lnTo>
                  <a:pt x="0" y="0"/>
                </a:lnTo>
                <a:lnTo>
                  <a:pt x="4489932" y="0"/>
                </a:lnTo>
                <a:lnTo>
                  <a:pt x="4489932" y="25633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813489" y="3278252"/>
            <a:ext cx="10921041" cy="2562224"/>
          </a:xfrm>
          <a:prstGeom prst="rect">
            <a:avLst/>
          </a:prstGeom>
        </p:spPr>
        <p:txBody>
          <a:bodyPr anchor="t" rtlCol="false" tIns="0" lIns="0" bIns="0" rIns="0">
            <a:spAutoFit/>
          </a:bodyPr>
          <a:lstStyle/>
          <a:p>
            <a:pPr algn="ctr">
              <a:lnSpc>
                <a:spcPts val="8999"/>
              </a:lnSpc>
            </a:pPr>
            <a:r>
              <a:rPr lang="en-US" sz="9999">
                <a:solidFill>
                  <a:srgbClr val="175286"/>
                </a:solidFill>
                <a:latin typeface="Funtastic"/>
                <a:ea typeface="Funtastic"/>
                <a:cs typeface="Funtastic"/>
                <a:sym typeface="Funtastic"/>
              </a:rPr>
              <a:t>CÔNG NGHỆ SỬ DỤNG</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584542" y="919402"/>
            <a:ext cx="3438219" cy="3859887"/>
          </a:xfrm>
          <a:custGeom>
            <a:avLst/>
            <a:gdLst/>
            <a:ahLst/>
            <a:cxnLst/>
            <a:rect r="r" b="b" t="t" l="l"/>
            <a:pathLst>
              <a:path h="3859887" w="3438219">
                <a:moveTo>
                  <a:pt x="0" y="0"/>
                </a:moveTo>
                <a:lnTo>
                  <a:pt x="3438219" y="0"/>
                </a:lnTo>
                <a:lnTo>
                  <a:pt x="3438219" y="3859887"/>
                </a:lnTo>
                <a:lnTo>
                  <a:pt x="0" y="3859887"/>
                </a:lnTo>
                <a:lnTo>
                  <a:pt x="0" y="0"/>
                </a:lnTo>
                <a:close/>
              </a:path>
            </a:pathLst>
          </a:custGeom>
          <a:blipFill>
            <a:blip r:embed="rId6"/>
            <a:stretch>
              <a:fillRect l="0" t="0" r="0" b="0"/>
            </a:stretch>
          </a:blipFill>
        </p:spPr>
      </p:sp>
      <p:sp>
        <p:nvSpPr>
          <p:cNvPr name="TextBox 8" id="8"/>
          <p:cNvSpPr txBox="true"/>
          <p:nvPr/>
        </p:nvSpPr>
        <p:spPr>
          <a:xfrm rot="0">
            <a:off x="996198" y="4568841"/>
            <a:ext cx="7397816" cy="328914"/>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a:t>
            </a:r>
          </a:p>
        </p:txBody>
      </p:sp>
      <p:sp>
        <p:nvSpPr>
          <p:cNvPr name="TextBox 9" id="9"/>
          <p:cNvSpPr txBox="true"/>
          <p:nvPr/>
        </p:nvSpPr>
        <p:spPr>
          <a:xfrm rot="0">
            <a:off x="1093705" y="947424"/>
            <a:ext cx="8115300" cy="369569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Ngôn ngữ lập trình và Framework </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584542" y="919402"/>
            <a:ext cx="3438219" cy="3859887"/>
          </a:xfrm>
          <a:custGeom>
            <a:avLst/>
            <a:gdLst/>
            <a:ahLst/>
            <a:cxnLst/>
            <a:rect r="r" b="b" t="t" l="l"/>
            <a:pathLst>
              <a:path h="3859887" w="3438219">
                <a:moveTo>
                  <a:pt x="0" y="0"/>
                </a:moveTo>
                <a:lnTo>
                  <a:pt x="3438219" y="0"/>
                </a:lnTo>
                <a:lnTo>
                  <a:pt x="3438219" y="3859887"/>
                </a:lnTo>
                <a:lnTo>
                  <a:pt x="0" y="3859887"/>
                </a:lnTo>
                <a:lnTo>
                  <a:pt x="0" y="0"/>
                </a:lnTo>
                <a:close/>
              </a:path>
            </a:pathLst>
          </a:custGeom>
          <a:blipFill>
            <a:blip r:embed="rId6"/>
            <a:stretch>
              <a:fillRect l="0" t="0" r="0" b="0"/>
            </a:stretch>
          </a:blipFill>
        </p:spPr>
      </p:sp>
      <p:sp>
        <p:nvSpPr>
          <p:cNvPr name="Freeform 8" id="8"/>
          <p:cNvSpPr/>
          <p:nvPr/>
        </p:nvSpPr>
        <p:spPr>
          <a:xfrm flipH="false" flipV="false" rot="0">
            <a:off x="13076368" y="1324878"/>
            <a:ext cx="5300478" cy="3280453"/>
          </a:xfrm>
          <a:custGeom>
            <a:avLst/>
            <a:gdLst/>
            <a:ahLst/>
            <a:cxnLst/>
            <a:rect r="r" b="b" t="t" l="l"/>
            <a:pathLst>
              <a:path h="3280453" w="5300478">
                <a:moveTo>
                  <a:pt x="0" y="0"/>
                </a:moveTo>
                <a:lnTo>
                  <a:pt x="5300479" y="0"/>
                </a:lnTo>
                <a:lnTo>
                  <a:pt x="5300479" y="3280454"/>
                </a:lnTo>
                <a:lnTo>
                  <a:pt x="0" y="3280454"/>
                </a:lnTo>
                <a:lnTo>
                  <a:pt x="0" y="0"/>
                </a:lnTo>
                <a:close/>
              </a:path>
            </a:pathLst>
          </a:custGeom>
          <a:blipFill>
            <a:blip r:embed="rId7"/>
            <a:stretch>
              <a:fillRect l="0" t="0" r="0" b="0"/>
            </a:stretch>
          </a:blipFill>
        </p:spPr>
      </p:sp>
      <p:sp>
        <p:nvSpPr>
          <p:cNvPr name="TextBox 9" id="9"/>
          <p:cNvSpPr txBox="true"/>
          <p:nvPr/>
        </p:nvSpPr>
        <p:spPr>
          <a:xfrm rot="0">
            <a:off x="996198" y="4568841"/>
            <a:ext cx="7397816" cy="328914"/>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a:t>
            </a:r>
          </a:p>
        </p:txBody>
      </p:sp>
      <p:sp>
        <p:nvSpPr>
          <p:cNvPr name="TextBox 10" id="10"/>
          <p:cNvSpPr txBox="true"/>
          <p:nvPr/>
        </p:nvSpPr>
        <p:spPr>
          <a:xfrm rot="0">
            <a:off x="1093705" y="947424"/>
            <a:ext cx="8115300" cy="369569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Ngôn ngữ lập trình và Framework </a:t>
            </a:r>
          </a:p>
        </p:txBody>
      </p:sp>
      <p:sp>
        <p:nvSpPr>
          <p:cNvPr name="TextBox 11" id="11"/>
          <p:cNvSpPr txBox="true"/>
          <p:nvPr/>
        </p:nvSpPr>
        <p:spPr>
          <a:xfrm rot="0">
            <a:off x="1028700" y="4988568"/>
            <a:ext cx="7397816" cy="328914"/>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ASP.NET Core 8.0 MVC</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584542" y="919402"/>
            <a:ext cx="3438219" cy="3859887"/>
          </a:xfrm>
          <a:custGeom>
            <a:avLst/>
            <a:gdLst/>
            <a:ahLst/>
            <a:cxnLst/>
            <a:rect r="r" b="b" t="t" l="l"/>
            <a:pathLst>
              <a:path h="3859887" w="3438219">
                <a:moveTo>
                  <a:pt x="0" y="0"/>
                </a:moveTo>
                <a:lnTo>
                  <a:pt x="3438219" y="0"/>
                </a:lnTo>
                <a:lnTo>
                  <a:pt x="3438219" y="3859887"/>
                </a:lnTo>
                <a:lnTo>
                  <a:pt x="0" y="3859887"/>
                </a:lnTo>
                <a:lnTo>
                  <a:pt x="0" y="0"/>
                </a:lnTo>
                <a:close/>
              </a:path>
            </a:pathLst>
          </a:custGeom>
          <a:blipFill>
            <a:blip r:embed="rId6"/>
            <a:stretch>
              <a:fillRect l="0" t="0" r="0" b="0"/>
            </a:stretch>
          </a:blipFill>
        </p:spPr>
      </p:sp>
      <p:sp>
        <p:nvSpPr>
          <p:cNvPr name="Freeform 8" id="8"/>
          <p:cNvSpPr/>
          <p:nvPr/>
        </p:nvSpPr>
        <p:spPr>
          <a:xfrm flipH="false" flipV="false" rot="0">
            <a:off x="13076368" y="1324878"/>
            <a:ext cx="5300478" cy="3280453"/>
          </a:xfrm>
          <a:custGeom>
            <a:avLst/>
            <a:gdLst/>
            <a:ahLst/>
            <a:cxnLst/>
            <a:rect r="r" b="b" t="t" l="l"/>
            <a:pathLst>
              <a:path h="3280453" w="5300478">
                <a:moveTo>
                  <a:pt x="0" y="0"/>
                </a:moveTo>
                <a:lnTo>
                  <a:pt x="5300479" y="0"/>
                </a:lnTo>
                <a:lnTo>
                  <a:pt x="5300479" y="3280454"/>
                </a:lnTo>
                <a:lnTo>
                  <a:pt x="0" y="3280454"/>
                </a:lnTo>
                <a:lnTo>
                  <a:pt x="0" y="0"/>
                </a:lnTo>
                <a:close/>
              </a:path>
            </a:pathLst>
          </a:custGeom>
          <a:blipFill>
            <a:blip r:embed="rId7"/>
            <a:stretch>
              <a:fillRect l="0" t="0" r="0" b="0"/>
            </a:stretch>
          </a:blipFill>
        </p:spPr>
      </p:sp>
      <p:sp>
        <p:nvSpPr>
          <p:cNvPr name="Freeform 9" id="9"/>
          <p:cNvSpPr/>
          <p:nvPr/>
        </p:nvSpPr>
        <p:spPr>
          <a:xfrm flipH="false" flipV="false" rot="0">
            <a:off x="10753714" y="5045646"/>
            <a:ext cx="6125158" cy="2884631"/>
          </a:xfrm>
          <a:custGeom>
            <a:avLst/>
            <a:gdLst/>
            <a:ahLst/>
            <a:cxnLst/>
            <a:rect r="r" b="b" t="t" l="l"/>
            <a:pathLst>
              <a:path h="2884631" w="6125158">
                <a:moveTo>
                  <a:pt x="0" y="0"/>
                </a:moveTo>
                <a:lnTo>
                  <a:pt x="6125159" y="0"/>
                </a:lnTo>
                <a:lnTo>
                  <a:pt x="6125159" y="2884631"/>
                </a:lnTo>
                <a:lnTo>
                  <a:pt x="0" y="2884631"/>
                </a:lnTo>
                <a:lnTo>
                  <a:pt x="0" y="0"/>
                </a:lnTo>
                <a:close/>
              </a:path>
            </a:pathLst>
          </a:custGeom>
          <a:blipFill>
            <a:blip r:embed="rId8"/>
            <a:stretch>
              <a:fillRect l="0" t="0" r="0" b="0"/>
            </a:stretch>
          </a:blipFill>
        </p:spPr>
      </p:sp>
      <p:sp>
        <p:nvSpPr>
          <p:cNvPr name="TextBox 10" id="10"/>
          <p:cNvSpPr txBox="true"/>
          <p:nvPr/>
        </p:nvSpPr>
        <p:spPr>
          <a:xfrm rot="0">
            <a:off x="996198" y="4568841"/>
            <a:ext cx="7397816" cy="328914"/>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a:t>
            </a:r>
          </a:p>
        </p:txBody>
      </p:sp>
      <p:sp>
        <p:nvSpPr>
          <p:cNvPr name="TextBox 11" id="11"/>
          <p:cNvSpPr txBox="true"/>
          <p:nvPr/>
        </p:nvSpPr>
        <p:spPr>
          <a:xfrm rot="0">
            <a:off x="1093705" y="947424"/>
            <a:ext cx="8115300" cy="369569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Ngôn ngữ lập trình và Framework </a:t>
            </a:r>
          </a:p>
        </p:txBody>
      </p:sp>
      <p:sp>
        <p:nvSpPr>
          <p:cNvPr name="TextBox 12" id="12"/>
          <p:cNvSpPr txBox="true"/>
          <p:nvPr/>
        </p:nvSpPr>
        <p:spPr>
          <a:xfrm rot="0">
            <a:off x="1028700" y="4988568"/>
            <a:ext cx="7397816" cy="328914"/>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ASP.NET Core 8.0 MVC</a:t>
            </a:r>
          </a:p>
        </p:txBody>
      </p:sp>
      <p:sp>
        <p:nvSpPr>
          <p:cNvPr name="TextBox 13" id="13"/>
          <p:cNvSpPr txBox="true"/>
          <p:nvPr/>
        </p:nvSpPr>
        <p:spPr>
          <a:xfrm rot="0">
            <a:off x="1028700" y="5496556"/>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SignalR: Thư viện của Microsoft hỗ trợ giao tiếp thời gian thực (Real-time) qua WebSocket, được sử dụng cho tính năng nhắn tin (ChatHub) và thông báo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508328" y="1298470"/>
            <a:ext cx="5089267" cy="4114800"/>
          </a:xfrm>
          <a:custGeom>
            <a:avLst/>
            <a:gdLst/>
            <a:ahLst/>
            <a:cxnLst/>
            <a:rect r="r" b="b" t="t" l="l"/>
            <a:pathLst>
              <a:path h="4114800" w="5089267">
                <a:moveTo>
                  <a:pt x="0" y="0"/>
                </a:moveTo>
                <a:lnTo>
                  <a:pt x="5089268" y="0"/>
                </a:lnTo>
                <a:lnTo>
                  <a:pt x="508926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077454" y="3626272"/>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Microsoft SQL Server: Hệ quản trị cơ sở dữ liệu quan hệ mạnh mẽ, hỗ trợ ACID Transaction đảm bảo tính toàn vẹn dữ liệu trong các thao tác phức tạp như đặt hàng</a:t>
            </a:r>
          </a:p>
        </p:txBody>
      </p:sp>
      <p:sp>
        <p:nvSpPr>
          <p:cNvPr name="TextBox 9" id="9"/>
          <p:cNvSpPr txBox="true"/>
          <p:nvPr/>
        </p:nvSpPr>
        <p:spPr>
          <a:xfrm rot="0">
            <a:off x="1093705" y="947424"/>
            <a:ext cx="8115300" cy="142874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Cơ sở dữ liệu</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508328" y="1298470"/>
            <a:ext cx="5089267" cy="4114800"/>
          </a:xfrm>
          <a:custGeom>
            <a:avLst/>
            <a:gdLst/>
            <a:ahLst/>
            <a:cxnLst/>
            <a:rect r="r" b="b" t="t" l="l"/>
            <a:pathLst>
              <a:path h="4114800" w="5089267">
                <a:moveTo>
                  <a:pt x="0" y="0"/>
                </a:moveTo>
                <a:lnTo>
                  <a:pt x="5089268" y="0"/>
                </a:lnTo>
                <a:lnTo>
                  <a:pt x="5089268"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1729944" y="5598341"/>
            <a:ext cx="5414071" cy="3289800"/>
          </a:xfrm>
          <a:custGeom>
            <a:avLst/>
            <a:gdLst/>
            <a:ahLst/>
            <a:cxnLst/>
            <a:rect r="r" b="b" t="t" l="l"/>
            <a:pathLst>
              <a:path h="3289800" w="5414071">
                <a:moveTo>
                  <a:pt x="0" y="0"/>
                </a:moveTo>
                <a:lnTo>
                  <a:pt x="5414071" y="0"/>
                </a:lnTo>
                <a:lnTo>
                  <a:pt x="5414071" y="3289800"/>
                </a:lnTo>
                <a:lnTo>
                  <a:pt x="0" y="3289800"/>
                </a:lnTo>
                <a:lnTo>
                  <a:pt x="0" y="0"/>
                </a:lnTo>
                <a:close/>
              </a:path>
            </a:pathLst>
          </a:custGeom>
          <a:blipFill>
            <a:blip r:embed="rId8"/>
            <a:stretch>
              <a:fillRect l="0" t="0" r="0" b="0"/>
            </a:stretch>
          </a:blipFill>
        </p:spPr>
      </p:sp>
      <p:sp>
        <p:nvSpPr>
          <p:cNvPr name="TextBox 9" id="9"/>
          <p:cNvSpPr txBox="true"/>
          <p:nvPr/>
        </p:nvSpPr>
        <p:spPr>
          <a:xfrm rot="0">
            <a:off x="1077454" y="3626272"/>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Microsoft SQL Server: Hệ quản trị cơ sở dữ liệu quan hệ mạnh mẽ, hỗ trợ ACID Transaction đảm bảo tính toàn vẹn dữ liệu trong các thao tác phức tạp như đặt hàng</a:t>
            </a:r>
          </a:p>
        </p:txBody>
      </p:sp>
      <p:sp>
        <p:nvSpPr>
          <p:cNvPr name="TextBox 10" id="10"/>
          <p:cNvSpPr txBox="true"/>
          <p:nvPr/>
        </p:nvSpPr>
        <p:spPr>
          <a:xfrm rot="0">
            <a:off x="1093705" y="947424"/>
            <a:ext cx="8115300" cy="142874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Cơ sở dữ liệu</a:t>
            </a:r>
          </a:p>
        </p:txBody>
      </p:sp>
      <p:sp>
        <p:nvSpPr>
          <p:cNvPr name="TextBox 11" id="11"/>
          <p:cNvSpPr txBox="true"/>
          <p:nvPr/>
        </p:nvSpPr>
        <p:spPr>
          <a:xfrm rot="0">
            <a:off x="1028700" y="5074821"/>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Entity Framework Core 8.0: ORM (Object-Relational Mapping) cho phép làm việc với database thông qua các C# object mà không cần viết các câu lệnh SQL thủ công.</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078759" y="1466368"/>
            <a:ext cx="4245178" cy="2163148"/>
          </a:xfrm>
          <a:custGeom>
            <a:avLst/>
            <a:gdLst/>
            <a:ahLst/>
            <a:cxnLst/>
            <a:rect r="r" b="b" t="t" l="l"/>
            <a:pathLst>
              <a:path h="2163148" w="4245178">
                <a:moveTo>
                  <a:pt x="0" y="0"/>
                </a:moveTo>
                <a:lnTo>
                  <a:pt x="4245178" y="0"/>
                </a:lnTo>
                <a:lnTo>
                  <a:pt x="4245178" y="2163148"/>
                </a:lnTo>
                <a:lnTo>
                  <a:pt x="0" y="2163148"/>
                </a:lnTo>
                <a:lnTo>
                  <a:pt x="0" y="0"/>
                </a:lnTo>
                <a:close/>
              </a:path>
            </a:pathLst>
          </a:custGeom>
          <a:blipFill>
            <a:blip r:embed="rId6"/>
            <a:stretch>
              <a:fillRect l="0" t="0" r="0" b="0"/>
            </a:stretch>
          </a:blipFill>
        </p:spPr>
      </p:sp>
      <p:sp>
        <p:nvSpPr>
          <p:cNvPr name="TextBox 8" id="8"/>
          <p:cNvSpPr txBox="true"/>
          <p:nvPr/>
        </p:nvSpPr>
        <p:spPr>
          <a:xfrm rot="0">
            <a:off x="1077454" y="3626272"/>
            <a:ext cx="7397816" cy="328914"/>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HTML5, CSS3 </a:t>
            </a:r>
          </a:p>
        </p:txBody>
      </p:sp>
      <p:sp>
        <p:nvSpPr>
          <p:cNvPr name="TextBox 9" id="9"/>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Giao diện  (frontend)</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078759" y="1466368"/>
            <a:ext cx="4245178" cy="2163148"/>
          </a:xfrm>
          <a:custGeom>
            <a:avLst/>
            <a:gdLst/>
            <a:ahLst/>
            <a:cxnLst/>
            <a:rect r="r" b="b" t="t" l="l"/>
            <a:pathLst>
              <a:path h="2163148" w="4245178">
                <a:moveTo>
                  <a:pt x="0" y="0"/>
                </a:moveTo>
                <a:lnTo>
                  <a:pt x="4245178" y="0"/>
                </a:lnTo>
                <a:lnTo>
                  <a:pt x="4245178" y="2163148"/>
                </a:lnTo>
                <a:lnTo>
                  <a:pt x="0" y="2163148"/>
                </a:lnTo>
                <a:lnTo>
                  <a:pt x="0" y="0"/>
                </a:lnTo>
                <a:close/>
              </a:path>
            </a:pathLst>
          </a:custGeom>
          <a:blipFill>
            <a:blip r:embed="rId6"/>
            <a:stretch>
              <a:fillRect l="0" t="0" r="0" b="0"/>
            </a:stretch>
          </a:blipFill>
        </p:spPr>
      </p:sp>
      <p:sp>
        <p:nvSpPr>
          <p:cNvPr name="Freeform 8" id="8"/>
          <p:cNvSpPr/>
          <p:nvPr/>
        </p:nvSpPr>
        <p:spPr>
          <a:xfrm flipH="false" flipV="false" rot="0">
            <a:off x="12769561" y="1297386"/>
            <a:ext cx="5466668" cy="3061334"/>
          </a:xfrm>
          <a:custGeom>
            <a:avLst/>
            <a:gdLst/>
            <a:ahLst/>
            <a:cxnLst/>
            <a:rect r="r" b="b" t="t" l="l"/>
            <a:pathLst>
              <a:path h="3061334" w="5466668">
                <a:moveTo>
                  <a:pt x="0" y="0"/>
                </a:moveTo>
                <a:lnTo>
                  <a:pt x="5466667" y="0"/>
                </a:lnTo>
                <a:lnTo>
                  <a:pt x="5466667" y="3061334"/>
                </a:lnTo>
                <a:lnTo>
                  <a:pt x="0" y="3061334"/>
                </a:lnTo>
                <a:lnTo>
                  <a:pt x="0" y="0"/>
                </a:lnTo>
                <a:close/>
              </a:path>
            </a:pathLst>
          </a:custGeom>
          <a:blipFill>
            <a:blip r:embed="rId7"/>
            <a:stretch>
              <a:fillRect l="0" t="0" r="0" b="0"/>
            </a:stretch>
          </a:blipFill>
        </p:spPr>
      </p:sp>
      <p:sp>
        <p:nvSpPr>
          <p:cNvPr name="TextBox 9" id="9"/>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HTML5, CSS3 và Bootstrap 5: Đảm bảo giao diện Responsive Design, tương thích tốt trên cả Desktop và Mobile.</a:t>
            </a:r>
          </a:p>
        </p:txBody>
      </p:sp>
      <p:sp>
        <p:nvSpPr>
          <p:cNvPr name="TextBox 10" id="10"/>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Giao diện  (frontend)</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078759" y="1466368"/>
            <a:ext cx="4245178" cy="2163148"/>
          </a:xfrm>
          <a:custGeom>
            <a:avLst/>
            <a:gdLst/>
            <a:ahLst/>
            <a:cxnLst/>
            <a:rect r="r" b="b" t="t" l="l"/>
            <a:pathLst>
              <a:path h="2163148" w="4245178">
                <a:moveTo>
                  <a:pt x="0" y="0"/>
                </a:moveTo>
                <a:lnTo>
                  <a:pt x="4245178" y="0"/>
                </a:lnTo>
                <a:lnTo>
                  <a:pt x="4245178" y="2163148"/>
                </a:lnTo>
                <a:lnTo>
                  <a:pt x="0" y="2163148"/>
                </a:lnTo>
                <a:lnTo>
                  <a:pt x="0" y="0"/>
                </a:lnTo>
                <a:close/>
              </a:path>
            </a:pathLst>
          </a:custGeom>
          <a:blipFill>
            <a:blip r:embed="rId6"/>
            <a:stretch>
              <a:fillRect l="0" t="0" r="0" b="0"/>
            </a:stretch>
          </a:blipFill>
        </p:spPr>
      </p:sp>
      <p:sp>
        <p:nvSpPr>
          <p:cNvPr name="Freeform 8" id="8"/>
          <p:cNvSpPr/>
          <p:nvPr/>
        </p:nvSpPr>
        <p:spPr>
          <a:xfrm flipH="false" flipV="false" rot="0">
            <a:off x="13406085" y="4253960"/>
            <a:ext cx="2648518" cy="2648518"/>
          </a:xfrm>
          <a:custGeom>
            <a:avLst/>
            <a:gdLst/>
            <a:ahLst/>
            <a:cxnLst/>
            <a:rect r="r" b="b" t="t" l="l"/>
            <a:pathLst>
              <a:path h="2648518" w="2648518">
                <a:moveTo>
                  <a:pt x="0" y="0"/>
                </a:moveTo>
                <a:lnTo>
                  <a:pt x="2648519" y="0"/>
                </a:lnTo>
                <a:lnTo>
                  <a:pt x="2648519" y="2648518"/>
                </a:lnTo>
                <a:lnTo>
                  <a:pt x="0" y="2648518"/>
                </a:lnTo>
                <a:lnTo>
                  <a:pt x="0" y="0"/>
                </a:lnTo>
                <a:close/>
              </a:path>
            </a:pathLst>
          </a:custGeom>
          <a:blipFill>
            <a:blip r:embed="rId7"/>
            <a:stretch>
              <a:fillRect l="0" t="0" r="0" b="0"/>
            </a:stretch>
          </a:blipFill>
        </p:spPr>
      </p:sp>
      <p:sp>
        <p:nvSpPr>
          <p:cNvPr name="Freeform 9" id="9"/>
          <p:cNvSpPr/>
          <p:nvPr/>
        </p:nvSpPr>
        <p:spPr>
          <a:xfrm flipH="false" flipV="false" rot="0">
            <a:off x="12769561" y="1297386"/>
            <a:ext cx="5466668" cy="3061334"/>
          </a:xfrm>
          <a:custGeom>
            <a:avLst/>
            <a:gdLst/>
            <a:ahLst/>
            <a:cxnLst/>
            <a:rect r="r" b="b" t="t" l="l"/>
            <a:pathLst>
              <a:path h="3061334" w="5466668">
                <a:moveTo>
                  <a:pt x="0" y="0"/>
                </a:moveTo>
                <a:lnTo>
                  <a:pt x="5466667" y="0"/>
                </a:lnTo>
                <a:lnTo>
                  <a:pt x="5466667" y="3061334"/>
                </a:lnTo>
                <a:lnTo>
                  <a:pt x="0" y="3061334"/>
                </a:lnTo>
                <a:lnTo>
                  <a:pt x="0" y="0"/>
                </a:lnTo>
                <a:close/>
              </a:path>
            </a:pathLst>
          </a:custGeom>
          <a:blipFill>
            <a:blip r:embed="rId8"/>
            <a:stretch>
              <a:fillRect l="0" t="0" r="0" b="0"/>
            </a:stretch>
          </a:blipFill>
        </p:spPr>
      </p:sp>
      <p:sp>
        <p:nvSpPr>
          <p:cNvPr name="Freeform 10" id="10"/>
          <p:cNvSpPr/>
          <p:nvPr/>
        </p:nvSpPr>
        <p:spPr>
          <a:xfrm flipH="false" flipV="false" rot="0">
            <a:off x="9457048" y="3993941"/>
            <a:ext cx="3006044" cy="3006044"/>
          </a:xfrm>
          <a:custGeom>
            <a:avLst/>
            <a:gdLst/>
            <a:ahLst/>
            <a:cxnLst/>
            <a:rect r="r" b="b" t="t" l="l"/>
            <a:pathLst>
              <a:path h="3006044" w="3006044">
                <a:moveTo>
                  <a:pt x="0" y="0"/>
                </a:moveTo>
                <a:lnTo>
                  <a:pt x="3006044" y="0"/>
                </a:lnTo>
                <a:lnTo>
                  <a:pt x="3006044" y="3006044"/>
                </a:lnTo>
                <a:lnTo>
                  <a:pt x="0" y="3006044"/>
                </a:lnTo>
                <a:lnTo>
                  <a:pt x="0" y="0"/>
                </a:lnTo>
                <a:close/>
              </a:path>
            </a:pathLst>
          </a:custGeom>
          <a:blipFill>
            <a:blip r:embed="rId9"/>
            <a:stretch>
              <a:fillRect l="0" t="0" r="0" b="0"/>
            </a:stretch>
          </a:blipFill>
        </p:spPr>
      </p:sp>
      <p:sp>
        <p:nvSpPr>
          <p:cNvPr name="Freeform 11" id="11"/>
          <p:cNvSpPr/>
          <p:nvPr/>
        </p:nvSpPr>
        <p:spPr>
          <a:xfrm flipH="false" flipV="false" rot="0">
            <a:off x="10663423" y="6882773"/>
            <a:ext cx="4902359" cy="2345264"/>
          </a:xfrm>
          <a:custGeom>
            <a:avLst/>
            <a:gdLst/>
            <a:ahLst/>
            <a:cxnLst/>
            <a:rect r="r" b="b" t="t" l="l"/>
            <a:pathLst>
              <a:path h="2345264" w="4902359">
                <a:moveTo>
                  <a:pt x="0" y="0"/>
                </a:moveTo>
                <a:lnTo>
                  <a:pt x="4902359" y="0"/>
                </a:lnTo>
                <a:lnTo>
                  <a:pt x="4902359" y="2345264"/>
                </a:lnTo>
                <a:lnTo>
                  <a:pt x="0" y="2345264"/>
                </a:lnTo>
                <a:lnTo>
                  <a:pt x="0" y="0"/>
                </a:lnTo>
                <a:close/>
              </a:path>
            </a:pathLst>
          </a:custGeom>
          <a:blipFill>
            <a:blip r:embed="rId10"/>
            <a:stretch>
              <a:fillRect l="0" t="0" r="0" b="0"/>
            </a:stretch>
          </a:blipFill>
        </p:spPr>
      </p:sp>
      <p:sp>
        <p:nvSpPr>
          <p:cNvPr name="TextBox 12" id="12"/>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HTML5, CSS3 và Bootstrap 5: Đảm bảo giao diện Responsive Design, tương thích tốt trên cả Desktop và Mobile.</a:t>
            </a:r>
          </a:p>
        </p:txBody>
      </p:sp>
      <p:sp>
        <p:nvSpPr>
          <p:cNvPr name="TextBox 13" id="13"/>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Giao diện  (frontend)</a:t>
            </a:r>
          </a:p>
        </p:txBody>
      </p:sp>
      <p:sp>
        <p:nvSpPr>
          <p:cNvPr name="TextBox 14" id="14"/>
          <p:cNvSpPr txBox="true"/>
          <p:nvPr/>
        </p:nvSpPr>
        <p:spPr>
          <a:xfrm rot="0">
            <a:off x="1148598" y="5019901"/>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JavaScript với jQuery và Ajax: Xử lý các tương tác phía client-side và thực hiện các request bất đồng bộ (async) mà không gây ra việc reload trang [14]</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4417" y="6539926"/>
            <a:ext cx="1496813" cy="1434219"/>
          </a:xfrm>
          <a:custGeom>
            <a:avLst/>
            <a:gdLst/>
            <a:ahLst/>
            <a:cxnLst/>
            <a:rect r="r" b="b" t="t" l="l"/>
            <a:pathLst>
              <a:path h="1434219" w="1496813">
                <a:moveTo>
                  <a:pt x="0" y="0"/>
                </a:moveTo>
                <a:lnTo>
                  <a:pt x="1496813" y="0"/>
                </a:lnTo>
                <a:lnTo>
                  <a:pt x="1496813" y="1434219"/>
                </a:lnTo>
                <a:lnTo>
                  <a:pt x="0" y="14342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697115" y="1251120"/>
            <a:ext cx="1580571" cy="1514474"/>
          </a:xfrm>
          <a:custGeom>
            <a:avLst/>
            <a:gdLst/>
            <a:ahLst/>
            <a:cxnLst/>
            <a:rect r="r" b="b" t="t" l="l"/>
            <a:pathLst>
              <a:path h="1514474" w="1580571">
                <a:moveTo>
                  <a:pt x="0" y="0"/>
                </a:moveTo>
                <a:lnTo>
                  <a:pt x="1580570" y="0"/>
                </a:lnTo>
                <a:lnTo>
                  <a:pt x="1580570" y="1514474"/>
                </a:lnTo>
                <a:lnTo>
                  <a:pt x="0" y="1514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557514">
            <a:off x="-1292817" y="1483922"/>
            <a:ext cx="4489933" cy="2563343"/>
          </a:xfrm>
          <a:custGeom>
            <a:avLst/>
            <a:gdLst/>
            <a:ahLst/>
            <a:cxnLst/>
            <a:rect r="r" b="b" t="t" l="l"/>
            <a:pathLst>
              <a:path h="2563343" w="4489933">
                <a:moveTo>
                  <a:pt x="0" y="0"/>
                </a:moveTo>
                <a:lnTo>
                  <a:pt x="4489932" y="0"/>
                </a:lnTo>
                <a:lnTo>
                  <a:pt x="4489932" y="2563344"/>
                </a:lnTo>
                <a:lnTo>
                  <a:pt x="0" y="25633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2609480">
            <a:off x="15168727" y="6336740"/>
            <a:ext cx="4489933" cy="2563343"/>
          </a:xfrm>
          <a:custGeom>
            <a:avLst/>
            <a:gdLst/>
            <a:ahLst/>
            <a:cxnLst/>
            <a:rect r="r" b="b" t="t" l="l"/>
            <a:pathLst>
              <a:path h="2563343" w="4489933">
                <a:moveTo>
                  <a:pt x="4489932" y="2563344"/>
                </a:moveTo>
                <a:lnTo>
                  <a:pt x="0" y="2563344"/>
                </a:lnTo>
                <a:lnTo>
                  <a:pt x="0" y="0"/>
                </a:lnTo>
                <a:lnTo>
                  <a:pt x="4489932" y="0"/>
                </a:lnTo>
                <a:lnTo>
                  <a:pt x="4489932" y="25633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813489" y="3278252"/>
            <a:ext cx="10921041" cy="1428749"/>
          </a:xfrm>
          <a:prstGeom prst="rect">
            <a:avLst/>
          </a:prstGeom>
        </p:spPr>
        <p:txBody>
          <a:bodyPr anchor="t" rtlCol="false" tIns="0" lIns="0" bIns="0" rIns="0">
            <a:spAutoFit/>
          </a:bodyPr>
          <a:lstStyle/>
          <a:p>
            <a:pPr algn="ctr">
              <a:lnSpc>
                <a:spcPts val="8999"/>
              </a:lnSpc>
            </a:pPr>
            <a:r>
              <a:rPr lang="en-US" sz="9999">
                <a:solidFill>
                  <a:srgbClr val="175286"/>
                </a:solidFill>
                <a:latin typeface="Funtastic"/>
                <a:ea typeface="Funtastic"/>
                <a:cs typeface="Funtastic"/>
                <a:sym typeface="Funtastic"/>
              </a:rPr>
              <a:t>CƠ SỞ LÝ THUYẾT</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031330" y="2611577"/>
            <a:ext cx="6666856" cy="5000142"/>
          </a:xfrm>
          <a:custGeom>
            <a:avLst/>
            <a:gdLst/>
            <a:ahLst/>
            <a:cxnLst/>
            <a:rect r="r" b="b" t="t" l="l"/>
            <a:pathLst>
              <a:path h="5000142" w="6666856">
                <a:moveTo>
                  <a:pt x="0" y="0"/>
                </a:moveTo>
                <a:lnTo>
                  <a:pt x="6666855" y="0"/>
                </a:lnTo>
                <a:lnTo>
                  <a:pt x="6666855" y="5000142"/>
                </a:lnTo>
                <a:lnTo>
                  <a:pt x="0" y="5000142"/>
                </a:lnTo>
                <a:lnTo>
                  <a:pt x="0" y="0"/>
                </a:lnTo>
                <a:close/>
              </a:path>
            </a:pathLst>
          </a:custGeom>
          <a:blipFill>
            <a:blip r:embed="rId4"/>
            <a:stretch>
              <a:fillRect l="0" t="0" r="0" b="0"/>
            </a:stretch>
          </a:blipFill>
        </p:spPr>
      </p:sp>
      <p:sp>
        <p:nvSpPr>
          <p:cNvPr name="TextBox 7" id="7"/>
          <p:cNvSpPr txBox="true"/>
          <p:nvPr/>
        </p:nvSpPr>
        <p:spPr>
          <a:xfrm rot="0">
            <a:off x="1077454" y="4032552"/>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Model: Là thành phần quản lý trạng thái, dữ liệu và các quy tắc nghiệp vụ của ứng dụng. chịu trách nhiệm truy xuất, cập nhật dữ liệu từ cơ sở dữ liệu vật lý và phản hồi lại cho Controller. • </a:t>
            </a:r>
          </a:p>
        </p:txBody>
      </p:sp>
      <p:sp>
        <p:nvSpPr>
          <p:cNvPr name="TextBox 8" id="8"/>
          <p:cNvSpPr txBox="true"/>
          <p:nvPr/>
        </p:nvSpPr>
        <p:spPr>
          <a:xfrm rot="0">
            <a:off x="1093705" y="918849"/>
            <a:ext cx="7381565" cy="2271311"/>
          </a:xfrm>
          <a:prstGeom prst="rect">
            <a:avLst/>
          </a:prstGeom>
        </p:spPr>
        <p:txBody>
          <a:bodyPr anchor="t" rtlCol="false" tIns="0" lIns="0" bIns="0" rIns="0">
            <a:spAutoFit/>
          </a:bodyPr>
          <a:lstStyle/>
          <a:p>
            <a:pPr algn="l">
              <a:lnSpc>
                <a:spcPts val="5541"/>
              </a:lnSpc>
            </a:pPr>
            <a:r>
              <a:rPr lang="en-US" sz="6157">
                <a:solidFill>
                  <a:srgbClr val="175286"/>
                </a:solidFill>
                <a:latin typeface="Funtastic"/>
                <a:ea typeface="Funtastic"/>
                <a:cs typeface="Funtastic"/>
                <a:sym typeface="Funtastic"/>
              </a:rPr>
              <a:t>Mô hình kiến trúc MVC (Model-View-Controller) </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031330" y="2611577"/>
            <a:ext cx="6666856" cy="5000142"/>
          </a:xfrm>
          <a:custGeom>
            <a:avLst/>
            <a:gdLst/>
            <a:ahLst/>
            <a:cxnLst/>
            <a:rect r="r" b="b" t="t" l="l"/>
            <a:pathLst>
              <a:path h="5000142" w="6666856">
                <a:moveTo>
                  <a:pt x="0" y="0"/>
                </a:moveTo>
                <a:lnTo>
                  <a:pt x="6666855" y="0"/>
                </a:lnTo>
                <a:lnTo>
                  <a:pt x="6666855" y="5000142"/>
                </a:lnTo>
                <a:lnTo>
                  <a:pt x="0" y="5000142"/>
                </a:lnTo>
                <a:lnTo>
                  <a:pt x="0" y="0"/>
                </a:lnTo>
                <a:close/>
              </a:path>
            </a:pathLst>
          </a:custGeom>
          <a:blipFill>
            <a:blip r:embed="rId4"/>
            <a:stretch>
              <a:fillRect l="0" t="0" r="0" b="0"/>
            </a:stretch>
          </a:blipFill>
        </p:spPr>
      </p:sp>
      <p:sp>
        <p:nvSpPr>
          <p:cNvPr name="TextBox 7" id="7"/>
          <p:cNvSpPr txBox="true"/>
          <p:nvPr/>
        </p:nvSpPr>
        <p:spPr>
          <a:xfrm rot="0">
            <a:off x="1077454" y="4032552"/>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Model: Là thành phần quản lý trạng thái, dữ liệu và các quy tắc nghiệp vụ của ứng dụng. chịu trách nhiệm truy xuất, cập nhật dữ liệu từ cơ sở dữ liệu vật lý và phản hồi lại cho Controller. • </a:t>
            </a:r>
          </a:p>
        </p:txBody>
      </p:sp>
      <p:sp>
        <p:nvSpPr>
          <p:cNvPr name="TextBox 8" id="8"/>
          <p:cNvSpPr txBox="true"/>
          <p:nvPr/>
        </p:nvSpPr>
        <p:spPr>
          <a:xfrm rot="0">
            <a:off x="1093705" y="918849"/>
            <a:ext cx="7381565" cy="2271311"/>
          </a:xfrm>
          <a:prstGeom prst="rect">
            <a:avLst/>
          </a:prstGeom>
        </p:spPr>
        <p:txBody>
          <a:bodyPr anchor="t" rtlCol="false" tIns="0" lIns="0" bIns="0" rIns="0">
            <a:spAutoFit/>
          </a:bodyPr>
          <a:lstStyle/>
          <a:p>
            <a:pPr algn="l">
              <a:lnSpc>
                <a:spcPts val="5541"/>
              </a:lnSpc>
            </a:pPr>
            <a:r>
              <a:rPr lang="en-US" sz="6157">
                <a:solidFill>
                  <a:srgbClr val="175286"/>
                </a:solidFill>
                <a:latin typeface="Funtastic"/>
                <a:ea typeface="Funtastic"/>
                <a:cs typeface="Funtastic"/>
                <a:sym typeface="Funtastic"/>
              </a:rPr>
              <a:t>Mô hình kiến trúc MVC (Model-View-Controller) </a:t>
            </a:r>
          </a:p>
        </p:txBody>
      </p:sp>
      <p:sp>
        <p:nvSpPr>
          <p:cNvPr name="TextBox 9" id="9"/>
          <p:cNvSpPr txBox="true"/>
          <p:nvPr/>
        </p:nvSpPr>
        <p:spPr>
          <a:xfrm rot="0">
            <a:off x="1085579" y="5481815"/>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View: Là thành phần tương tác trực tiếp với người dùng. View không thực hiện tính toán logic mà chỉ nhận dữ liệu từ Controller để hiển thị dữ liệu cho người dùng </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031330" y="2611577"/>
            <a:ext cx="6666856" cy="5000142"/>
          </a:xfrm>
          <a:custGeom>
            <a:avLst/>
            <a:gdLst/>
            <a:ahLst/>
            <a:cxnLst/>
            <a:rect r="r" b="b" t="t" l="l"/>
            <a:pathLst>
              <a:path h="5000142" w="6666856">
                <a:moveTo>
                  <a:pt x="0" y="0"/>
                </a:moveTo>
                <a:lnTo>
                  <a:pt x="6666855" y="0"/>
                </a:lnTo>
                <a:lnTo>
                  <a:pt x="6666855" y="5000142"/>
                </a:lnTo>
                <a:lnTo>
                  <a:pt x="0" y="5000142"/>
                </a:lnTo>
                <a:lnTo>
                  <a:pt x="0" y="0"/>
                </a:lnTo>
                <a:close/>
              </a:path>
            </a:pathLst>
          </a:custGeom>
          <a:blipFill>
            <a:blip r:embed="rId4"/>
            <a:stretch>
              <a:fillRect l="0" t="0" r="0" b="0"/>
            </a:stretch>
          </a:blipFill>
        </p:spPr>
      </p:sp>
      <p:sp>
        <p:nvSpPr>
          <p:cNvPr name="TextBox 7" id="7"/>
          <p:cNvSpPr txBox="true"/>
          <p:nvPr/>
        </p:nvSpPr>
        <p:spPr>
          <a:xfrm rot="0">
            <a:off x="1077454" y="4032552"/>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Model: Là thành phần quản lý trạng thái, dữ liệu và các quy tắc nghiệp vụ của ứng dụng. chịu trách nhiệm truy xuất, cập nhật dữ liệu từ cơ sở dữ liệu vật lý và phản hồi lại cho Controller. • </a:t>
            </a:r>
          </a:p>
        </p:txBody>
      </p:sp>
      <p:sp>
        <p:nvSpPr>
          <p:cNvPr name="TextBox 8" id="8"/>
          <p:cNvSpPr txBox="true"/>
          <p:nvPr/>
        </p:nvSpPr>
        <p:spPr>
          <a:xfrm rot="0">
            <a:off x="1093705" y="918849"/>
            <a:ext cx="7381565" cy="2271311"/>
          </a:xfrm>
          <a:prstGeom prst="rect">
            <a:avLst/>
          </a:prstGeom>
        </p:spPr>
        <p:txBody>
          <a:bodyPr anchor="t" rtlCol="false" tIns="0" lIns="0" bIns="0" rIns="0">
            <a:spAutoFit/>
          </a:bodyPr>
          <a:lstStyle/>
          <a:p>
            <a:pPr algn="l">
              <a:lnSpc>
                <a:spcPts val="5541"/>
              </a:lnSpc>
            </a:pPr>
            <a:r>
              <a:rPr lang="en-US" sz="6157">
                <a:solidFill>
                  <a:srgbClr val="175286"/>
                </a:solidFill>
                <a:latin typeface="Funtastic"/>
                <a:ea typeface="Funtastic"/>
                <a:cs typeface="Funtastic"/>
                <a:sym typeface="Funtastic"/>
              </a:rPr>
              <a:t>Mô hình kiến trúc MVC (Model-View-Controller) </a:t>
            </a:r>
          </a:p>
        </p:txBody>
      </p:sp>
      <p:sp>
        <p:nvSpPr>
          <p:cNvPr name="TextBox 9" id="9"/>
          <p:cNvSpPr txBox="true"/>
          <p:nvPr/>
        </p:nvSpPr>
        <p:spPr>
          <a:xfrm rot="0">
            <a:off x="1085579" y="5481815"/>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View: Là thành phần tương tác trực tiếp với người dùng. View không thực hiện tính toán logic mà chỉ nhận dữ liệu từ Controller để hiển thị dữ liệu cho người dùng </a:t>
            </a:r>
          </a:p>
        </p:txBody>
      </p:sp>
      <p:sp>
        <p:nvSpPr>
          <p:cNvPr name="TextBox 10" id="10"/>
          <p:cNvSpPr txBox="true"/>
          <p:nvPr/>
        </p:nvSpPr>
        <p:spPr>
          <a:xfrm rot="0">
            <a:off x="1028700" y="7270027"/>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Controller: Xử lý các yêu cầu từ người dùng, tương tác với Model để lấy/cập nhật dữ liệu, rồi chuyển kết quả tới View tương ứng. </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706384" y="3146229"/>
            <a:ext cx="8053410" cy="4546280"/>
          </a:xfrm>
          <a:custGeom>
            <a:avLst/>
            <a:gdLst/>
            <a:ahLst/>
            <a:cxnLst/>
            <a:rect r="r" b="b" t="t" l="l"/>
            <a:pathLst>
              <a:path h="4546280" w="8053410">
                <a:moveTo>
                  <a:pt x="0" y="0"/>
                </a:moveTo>
                <a:lnTo>
                  <a:pt x="8053410" y="0"/>
                </a:lnTo>
                <a:lnTo>
                  <a:pt x="8053410" y="4546280"/>
                </a:lnTo>
                <a:lnTo>
                  <a:pt x="0" y="4546280"/>
                </a:lnTo>
                <a:lnTo>
                  <a:pt x="0" y="0"/>
                </a:lnTo>
                <a:close/>
              </a:path>
            </a:pathLst>
          </a:custGeom>
          <a:blipFill>
            <a:blip r:embed="rId4"/>
            <a:stretch>
              <a:fillRect l="0" t="0" r="0" b="0"/>
            </a:stretch>
          </a:blipFill>
        </p:spPr>
      </p:sp>
      <p:sp>
        <p:nvSpPr>
          <p:cNvPr name="TextBox 7" id="7"/>
          <p:cNvSpPr txBox="true"/>
          <p:nvPr/>
        </p:nvSpPr>
        <p:spPr>
          <a:xfrm rot="0">
            <a:off x="1077454" y="403255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Lớp Presentation (Giao diện): Cung cấp giao diện tương tác, tiếp nhận dữ liệu đầu vào và hiển thị dữ liệu đầu ra. </a:t>
            </a:r>
          </a:p>
        </p:txBody>
      </p:sp>
      <p:sp>
        <p:nvSpPr>
          <p:cNvPr name="TextBox 8" id="8"/>
          <p:cNvSpPr txBox="true"/>
          <p:nvPr/>
        </p:nvSpPr>
        <p:spPr>
          <a:xfrm rot="0">
            <a:off x="1093705" y="918849"/>
            <a:ext cx="7381565" cy="2271311"/>
          </a:xfrm>
          <a:prstGeom prst="rect">
            <a:avLst/>
          </a:prstGeom>
        </p:spPr>
        <p:txBody>
          <a:bodyPr anchor="t" rtlCol="false" tIns="0" lIns="0" bIns="0" rIns="0">
            <a:spAutoFit/>
          </a:bodyPr>
          <a:lstStyle/>
          <a:p>
            <a:pPr algn="l">
              <a:lnSpc>
                <a:spcPts val="5541"/>
              </a:lnSpc>
            </a:pPr>
            <a:r>
              <a:rPr lang="en-US" sz="6157">
                <a:solidFill>
                  <a:srgbClr val="175286"/>
                </a:solidFill>
                <a:latin typeface="Funtastic"/>
                <a:ea typeface="Funtastic"/>
                <a:cs typeface="Funtastic"/>
                <a:sym typeface="Funtastic"/>
              </a:rPr>
              <a:t> Kiến trúc phân tầng 3 lớp (3-Tier Architecture) </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706384" y="3146229"/>
            <a:ext cx="8053410" cy="4546280"/>
          </a:xfrm>
          <a:custGeom>
            <a:avLst/>
            <a:gdLst/>
            <a:ahLst/>
            <a:cxnLst/>
            <a:rect r="r" b="b" t="t" l="l"/>
            <a:pathLst>
              <a:path h="4546280" w="8053410">
                <a:moveTo>
                  <a:pt x="0" y="0"/>
                </a:moveTo>
                <a:lnTo>
                  <a:pt x="8053410" y="0"/>
                </a:lnTo>
                <a:lnTo>
                  <a:pt x="8053410" y="4546280"/>
                </a:lnTo>
                <a:lnTo>
                  <a:pt x="0" y="4546280"/>
                </a:lnTo>
                <a:lnTo>
                  <a:pt x="0" y="0"/>
                </a:lnTo>
                <a:close/>
              </a:path>
            </a:pathLst>
          </a:custGeom>
          <a:blipFill>
            <a:blip r:embed="rId4"/>
            <a:stretch>
              <a:fillRect l="0" t="0" r="0" b="0"/>
            </a:stretch>
          </a:blipFill>
        </p:spPr>
      </p:sp>
      <p:sp>
        <p:nvSpPr>
          <p:cNvPr name="TextBox 7" id="7"/>
          <p:cNvSpPr txBox="true"/>
          <p:nvPr/>
        </p:nvSpPr>
        <p:spPr>
          <a:xfrm rot="0">
            <a:off x="1077454" y="403255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Lớp Presentation (Giao diện): Cung cấp giao diện tương tác, tiếp nhận dữ liệu đầu vào và hiển thị dữ liệu đầu ra. </a:t>
            </a:r>
          </a:p>
        </p:txBody>
      </p:sp>
      <p:sp>
        <p:nvSpPr>
          <p:cNvPr name="TextBox 8" id="8"/>
          <p:cNvSpPr txBox="true"/>
          <p:nvPr/>
        </p:nvSpPr>
        <p:spPr>
          <a:xfrm rot="0">
            <a:off x="1093705" y="918849"/>
            <a:ext cx="7381565" cy="2271311"/>
          </a:xfrm>
          <a:prstGeom prst="rect">
            <a:avLst/>
          </a:prstGeom>
        </p:spPr>
        <p:txBody>
          <a:bodyPr anchor="t" rtlCol="false" tIns="0" lIns="0" bIns="0" rIns="0">
            <a:spAutoFit/>
          </a:bodyPr>
          <a:lstStyle/>
          <a:p>
            <a:pPr algn="l">
              <a:lnSpc>
                <a:spcPts val="5541"/>
              </a:lnSpc>
            </a:pPr>
            <a:r>
              <a:rPr lang="en-US" sz="6157">
                <a:solidFill>
                  <a:srgbClr val="175286"/>
                </a:solidFill>
                <a:latin typeface="Funtastic"/>
                <a:ea typeface="Funtastic"/>
                <a:cs typeface="Funtastic"/>
                <a:sym typeface="Funtastic"/>
              </a:rPr>
              <a:t> Kiến trúc phân tầng 3 lớp (3-Tier Architecture) </a:t>
            </a:r>
          </a:p>
        </p:txBody>
      </p:sp>
      <p:sp>
        <p:nvSpPr>
          <p:cNvPr name="TextBox 9" id="9"/>
          <p:cNvSpPr txBox="true"/>
          <p:nvPr/>
        </p:nvSpPr>
        <p:spPr>
          <a:xfrm rot="0">
            <a:off x="1085579" y="5481815"/>
            <a:ext cx="7397816" cy="1603387"/>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Lớp Business Logic (Nghiệp vụ): Xử lý các quy định, ràng buộc của hệ thống (Ví dụ: logic trừ tiền ví điện tử, tính hoa hồng). Đây là tầng trung tâm, không phụ thuộc vào công nghệ giao diện hay cơ sở dữ liệu. </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706384" y="3146229"/>
            <a:ext cx="8053410" cy="4546280"/>
          </a:xfrm>
          <a:custGeom>
            <a:avLst/>
            <a:gdLst/>
            <a:ahLst/>
            <a:cxnLst/>
            <a:rect r="r" b="b" t="t" l="l"/>
            <a:pathLst>
              <a:path h="4546280" w="8053410">
                <a:moveTo>
                  <a:pt x="0" y="0"/>
                </a:moveTo>
                <a:lnTo>
                  <a:pt x="8053410" y="0"/>
                </a:lnTo>
                <a:lnTo>
                  <a:pt x="8053410" y="4546280"/>
                </a:lnTo>
                <a:lnTo>
                  <a:pt x="0" y="4546280"/>
                </a:lnTo>
                <a:lnTo>
                  <a:pt x="0" y="0"/>
                </a:lnTo>
                <a:close/>
              </a:path>
            </a:pathLst>
          </a:custGeom>
          <a:blipFill>
            <a:blip r:embed="rId4"/>
            <a:stretch>
              <a:fillRect l="0" t="0" r="0" b="0"/>
            </a:stretch>
          </a:blipFill>
        </p:spPr>
      </p:sp>
      <p:sp>
        <p:nvSpPr>
          <p:cNvPr name="TextBox 7" id="7"/>
          <p:cNvSpPr txBox="true"/>
          <p:nvPr/>
        </p:nvSpPr>
        <p:spPr>
          <a:xfrm rot="0">
            <a:off x="1077454" y="403255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Lớp Presentation (Giao diện): Cung cấp giao diện tương tác, tiếp nhận dữ liệu đầu vào và hiển thị dữ liệu đầu ra. </a:t>
            </a:r>
          </a:p>
        </p:txBody>
      </p:sp>
      <p:sp>
        <p:nvSpPr>
          <p:cNvPr name="TextBox 8" id="8"/>
          <p:cNvSpPr txBox="true"/>
          <p:nvPr/>
        </p:nvSpPr>
        <p:spPr>
          <a:xfrm rot="0">
            <a:off x="1093705" y="918849"/>
            <a:ext cx="7381565" cy="2271311"/>
          </a:xfrm>
          <a:prstGeom prst="rect">
            <a:avLst/>
          </a:prstGeom>
        </p:spPr>
        <p:txBody>
          <a:bodyPr anchor="t" rtlCol="false" tIns="0" lIns="0" bIns="0" rIns="0">
            <a:spAutoFit/>
          </a:bodyPr>
          <a:lstStyle/>
          <a:p>
            <a:pPr algn="l">
              <a:lnSpc>
                <a:spcPts val="5541"/>
              </a:lnSpc>
            </a:pPr>
            <a:r>
              <a:rPr lang="en-US" sz="6157">
                <a:solidFill>
                  <a:srgbClr val="175286"/>
                </a:solidFill>
                <a:latin typeface="Funtastic"/>
                <a:ea typeface="Funtastic"/>
                <a:cs typeface="Funtastic"/>
                <a:sym typeface="Funtastic"/>
              </a:rPr>
              <a:t> Kiến trúc phân tầng 3 lớp (3-Tier Architecture) </a:t>
            </a:r>
          </a:p>
        </p:txBody>
      </p:sp>
      <p:sp>
        <p:nvSpPr>
          <p:cNvPr name="TextBox 9" id="9"/>
          <p:cNvSpPr txBox="true"/>
          <p:nvPr/>
        </p:nvSpPr>
        <p:spPr>
          <a:xfrm rot="0">
            <a:off x="1085579" y="5481815"/>
            <a:ext cx="7397816" cy="1603387"/>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Lớp Business Logic (Nghiệp vụ): Xử lý các quy định, ràng buộc của hệ thống (Ví dụ: logic trừ tiền ví điện tử, tính hoa hồng). Đây là tầng trung tâm, không phụ thuộc vào công nghệ giao diện hay cơ sở dữ liệu. </a:t>
            </a:r>
          </a:p>
        </p:txBody>
      </p:sp>
      <p:sp>
        <p:nvSpPr>
          <p:cNvPr name="TextBox 10" id="10"/>
          <p:cNvSpPr txBox="true"/>
          <p:nvPr/>
        </p:nvSpPr>
        <p:spPr>
          <a:xfrm rot="0">
            <a:off x="1028700" y="7270027"/>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Lớp Data Access (Truy cập dữ liệu - Infrastructure): Đảm nhiệm việc tương tác d với hệ quản trị cơ sở dữ liệu. </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4417" y="6539926"/>
            <a:ext cx="1496813" cy="1434219"/>
          </a:xfrm>
          <a:custGeom>
            <a:avLst/>
            <a:gdLst/>
            <a:ahLst/>
            <a:cxnLst/>
            <a:rect r="r" b="b" t="t" l="l"/>
            <a:pathLst>
              <a:path h="1434219" w="1496813">
                <a:moveTo>
                  <a:pt x="0" y="0"/>
                </a:moveTo>
                <a:lnTo>
                  <a:pt x="1496813" y="0"/>
                </a:lnTo>
                <a:lnTo>
                  <a:pt x="1496813" y="1434219"/>
                </a:lnTo>
                <a:lnTo>
                  <a:pt x="0" y="14342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697115" y="1251120"/>
            <a:ext cx="1580571" cy="1514474"/>
          </a:xfrm>
          <a:custGeom>
            <a:avLst/>
            <a:gdLst/>
            <a:ahLst/>
            <a:cxnLst/>
            <a:rect r="r" b="b" t="t" l="l"/>
            <a:pathLst>
              <a:path h="1514474" w="1580571">
                <a:moveTo>
                  <a:pt x="0" y="0"/>
                </a:moveTo>
                <a:lnTo>
                  <a:pt x="1580570" y="0"/>
                </a:lnTo>
                <a:lnTo>
                  <a:pt x="1580570" y="1514474"/>
                </a:lnTo>
                <a:lnTo>
                  <a:pt x="0" y="15144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2557514">
            <a:off x="-1292817" y="1483922"/>
            <a:ext cx="4489933" cy="2563343"/>
          </a:xfrm>
          <a:custGeom>
            <a:avLst/>
            <a:gdLst/>
            <a:ahLst/>
            <a:cxnLst/>
            <a:rect r="r" b="b" t="t" l="l"/>
            <a:pathLst>
              <a:path h="2563343" w="4489933">
                <a:moveTo>
                  <a:pt x="0" y="0"/>
                </a:moveTo>
                <a:lnTo>
                  <a:pt x="4489932" y="0"/>
                </a:lnTo>
                <a:lnTo>
                  <a:pt x="4489932" y="2563344"/>
                </a:lnTo>
                <a:lnTo>
                  <a:pt x="0" y="25633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true" rot="-2609480">
            <a:off x="15168727" y="6336740"/>
            <a:ext cx="4489933" cy="2563343"/>
          </a:xfrm>
          <a:custGeom>
            <a:avLst/>
            <a:gdLst/>
            <a:ahLst/>
            <a:cxnLst/>
            <a:rect r="r" b="b" t="t" l="l"/>
            <a:pathLst>
              <a:path h="2563343" w="4489933">
                <a:moveTo>
                  <a:pt x="4489932" y="2563344"/>
                </a:moveTo>
                <a:lnTo>
                  <a:pt x="0" y="2563344"/>
                </a:lnTo>
                <a:lnTo>
                  <a:pt x="0" y="0"/>
                </a:lnTo>
                <a:lnTo>
                  <a:pt x="4489932" y="0"/>
                </a:lnTo>
                <a:lnTo>
                  <a:pt x="4489932" y="256334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3813489" y="3278252"/>
            <a:ext cx="10921041" cy="1428749"/>
          </a:xfrm>
          <a:prstGeom prst="rect">
            <a:avLst/>
          </a:prstGeom>
        </p:spPr>
        <p:txBody>
          <a:bodyPr anchor="t" rtlCol="false" tIns="0" lIns="0" bIns="0" rIns="0">
            <a:spAutoFit/>
          </a:bodyPr>
          <a:lstStyle/>
          <a:p>
            <a:pPr algn="ctr">
              <a:lnSpc>
                <a:spcPts val="8999"/>
              </a:lnSpc>
            </a:pPr>
            <a:r>
              <a:rPr lang="en-US" sz="9999">
                <a:solidFill>
                  <a:srgbClr val="175286"/>
                </a:solidFill>
                <a:latin typeface="Funtastic"/>
                <a:ea typeface="Funtastic"/>
                <a:cs typeface="Funtastic"/>
                <a:sym typeface="Funtastic"/>
              </a:rPr>
              <a:t>KẾT LUẬN</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Hoàn thành đầy đủ 3 phân hệ (Customer, Vendor, Admin) với phân quyền rõ ràng và giao diện riêng biệt cho từng vai trò.</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Kết quả đạt được</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Hoàn thành đầy đủ 3 phân hệ (Customer, Vendor, Admin) với phân quyền rõ ràng và giao diện riêng biệt cho từng vai trò.</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Kết quả đạt được</a:t>
            </a:r>
          </a:p>
        </p:txBody>
      </p:sp>
      <p:sp>
        <p:nvSpPr>
          <p:cNvPr name="TextBox 9" id="9"/>
          <p:cNvSpPr txBox="true"/>
          <p:nvPr/>
        </p:nvSpPr>
        <p:spPr>
          <a:xfrm rot="0">
            <a:off x="1067342" y="4834999"/>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Triển khai thành công luồng nghiệp vụ cốt lõi: từ đăng ký Vendor, quản lý sản phẩm, quy trình đặt hàng Multi-Vendor, quản lý đơn hàng đến thanh toán và ví thu nhập. </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Hoàn thành đầy đủ 3 phân hệ (Customer, Vendor, Admin) với phân quyền rõ ràng và giao diện riêng biệt cho từng vai trò.</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Kết quả đạt được</a:t>
            </a:r>
          </a:p>
        </p:txBody>
      </p:sp>
      <p:sp>
        <p:nvSpPr>
          <p:cNvPr name="TextBox 9" id="9"/>
          <p:cNvSpPr txBox="true"/>
          <p:nvPr/>
        </p:nvSpPr>
        <p:spPr>
          <a:xfrm rot="0">
            <a:off x="1067342" y="4834999"/>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Triển khai thành công luồng nghiệp vụ cốt lõi: từ đăng ký Vendor, quản lý sản phẩm, quy trình đặt hàng Multi-Vendor, quản lý đơn hàng đến thanh toán và ví thu nhập. </a:t>
            </a:r>
          </a:p>
        </p:txBody>
      </p:sp>
      <p:sp>
        <p:nvSpPr>
          <p:cNvPr name="TextBox 10" id="10"/>
          <p:cNvSpPr txBox="true"/>
          <p:nvPr/>
        </p:nvSpPr>
        <p:spPr>
          <a:xfrm rot="0">
            <a:off x="1093705" y="6357893"/>
            <a:ext cx="7397816" cy="1603387"/>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các tính năng nâng cao: hệ thống voucher linh hoạt (theo phần trăm/số tiền cố định, áp dụng cho sản phẩm hoặc phí vận chuyển), tích điểm khách hàng thân thiết, nhắn tin và thông báo thời gian thực qua SignalR</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Hoàn thành đầy đủ 3 phân hệ (Customer, Vendor, Admin) với phân quyền rõ ràng và giao diện riêng biệt cho từng vai trò.</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Kết quả đạt được</a:t>
            </a:r>
          </a:p>
        </p:txBody>
      </p:sp>
      <p:sp>
        <p:nvSpPr>
          <p:cNvPr name="TextBox 9" id="9"/>
          <p:cNvSpPr txBox="true"/>
          <p:nvPr/>
        </p:nvSpPr>
        <p:spPr>
          <a:xfrm rot="0">
            <a:off x="1067342" y="4834999"/>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Triển khai thành công luồng nghiệp vụ cốt lõi: từ đăng ký Vendor, quản lý sản phẩm, quy trình đặt hàng Multi-Vendor, quản lý đơn hàng đến thanh toán và ví thu nhập. </a:t>
            </a:r>
          </a:p>
        </p:txBody>
      </p:sp>
      <p:sp>
        <p:nvSpPr>
          <p:cNvPr name="TextBox 10" id="10"/>
          <p:cNvSpPr txBox="true"/>
          <p:nvPr/>
        </p:nvSpPr>
        <p:spPr>
          <a:xfrm rot="0">
            <a:off x="1093705" y="6357893"/>
            <a:ext cx="7397816" cy="1603387"/>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các tính năng nâng cao: hệ thống voucher linh hoạt (theo phần trăm/số tiền cố định, áp dụng cho sản phẩm hoặc phí vận chuyển), tích điểm khách hàng thân thiết, nhắn tin và thông báo thời gian thực qua SignalR</a:t>
            </a:r>
          </a:p>
        </p:txBody>
      </p:sp>
      <p:sp>
        <p:nvSpPr>
          <p:cNvPr name="TextBox 11" id="11"/>
          <p:cNvSpPr txBox="true"/>
          <p:nvPr/>
        </p:nvSpPr>
        <p:spPr>
          <a:xfrm rot="0">
            <a:off x="9062924" y="3616160"/>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Áp dụng kiến trúc Clean Architecture (3 tầng) giúp code có tổ chức tốt, dễ bảo trì và mở rộng.</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Hoàn thành đầy đủ 3 phân hệ (Customer, Vendor, Admin) với phân quyền rõ ràng và giao diện riêng biệt cho từng vai trò.</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Kết quả đạt được</a:t>
            </a:r>
          </a:p>
        </p:txBody>
      </p:sp>
      <p:sp>
        <p:nvSpPr>
          <p:cNvPr name="TextBox 9" id="9"/>
          <p:cNvSpPr txBox="true"/>
          <p:nvPr/>
        </p:nvSpPr>
        <p:spPr>
          <a:xfrm rot="0">
            <a:off x="1067342" y="4834999"/>
            <a:ext cx="7397816" cy="1284769"/>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Triển khai thành công luồng nghiệp vụ cốt lõi: từ đăng ký Vendor, quản lý sản phẩm, quy trình đặt hàng Multi-Vendor, quản lý đơn hàng đến thanh toán và ví thu nhập. </a:t>
            </a:r>
          </a:p>
        </p:txBody>
      </p:sp>
      <p:sp>
        <p:nvSpPr>
          <p:cNvPr name="TextBox 10" id="10"/>
          <p:cNvSpPr txBox="true"/>
          <p:nvPr/>
        </p:nvSpPr>
        <p:spPr>
          <a:xfrm rot="0">
            <a:off x="1093705" y="6357893"/>
            <a:ext cx="7397816" cy="1603387"/>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các tính năng nâng cao: hệ thống voucher linh hoạt (theo phần trăm/số tiền cố định, áp dụng cho sản phẩm hoặc phí vận chuyển), tích điểm khách hàng thân thiết, nhắn tin và thông báo thời gian thực qua SignalR</a:t>
            </a:r>
          </a:p>
        </p:txBody>
      </p:sp>
      <p:sp>
        <p:nvSpPr>
          <p:cNvPr name="TextBox 11" id="11"/>
          <p:cNvSpPr txBox="true"/>
          <p:nvPr/>
        </p:nvSpPr>
        <p:spPr>
          <a:xfrm rot="0">
            <a:off x="9062924" y="3616160"/>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Áp dụng kiến trúc Clean Architecture (3 tầng) giúp code có tổ chức tốt, dễ bảo trì và mở rộng.</a:t>
            </a:r>
          </a:p>
        </p:txBody>
      </p:sp>
      <p:sp>
        <p:nvSpPr>
          <p:cNvPr name="TextBox 12" id="12"/>
          <p:cNvSpPr txBox="true"/>
          <p:nvPr/>
        </p:nvSpPr>
        <p:spPr>
          <a:xfrm rot="0">
            <a:off x="9062924" y="5153617"/>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Đảm bảo các tiêu chuẩn bảo mật Web cơ bản thông qua ASP.NET Core Identity và các cơ chế phòng chống tấn công tích hợp sẵn.</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Thanh toán trực tuyến: Chưa tích hợp cổng thanh toán điện tử (VNPay, Momo, ZaloPay), hiện chỉ hỗ trợ COD</a:t>
            </a:r>
          </a:p>
        </p:txBody>
      </p:sp>
      <p:sp>
        <p:nvSpPr>
          <p:cNvPr name="TextBox 7" id="7"/>
          <p:cNvSpPr txBox="true"/>
          <p:nvPr/>
        </p:nvSpPr>
        <p:spPr>
          <a:xfrm rot="0">
            <a:off x="1093705" y="947424"/>
            <a:ext cx="8115300" cy="142874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Hạn chế</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Thanh toán trực tuyến: Chưa tích hợp cổng thanh toán điện tử (VNPay, Momo, ZaloPay), hiện chỉ hỗ trợ COD</a:t>
            </a:r>
          </a:p>
        </p:txBody>
      </p:sp>
      <p:sp>
        <p:nvSpPr>
          <p:cNvPr name="TextBox 7" id="7"/>
          <p:cNvSpPr txBox="true"/>
          <p:nvPr/>
        </p:nvSpPr>
        <p:spPr>
          <a:xfrm rot="0">
            <a:off x="1093705" y="947424"/>
            <a:ext cx="8115300" cy="142874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Hạn chế</a:t>
            </a:r>
          </a:p>
        </p:txBody>
      </p:sp>
      <p:sp>
        <p:nvSpPr>
          <p:cNvPr name="TextBox 8" id="8"/>
          <p:cNvSpPr txBox="true"/>
          <p:nvPr/>
        </p:nvSpPr>
        <p:spPr>
          <a:xfrm rot="0">
            <a:off x="1067342" y="4834999"/>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Quản lý vận chuyển: Chưa tích hợp API của các đơn vị vận chuyển (GHN, GHTK), mã vận đơn được nhập thủ công</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Thanh toán trực tuyến: Chưa tích hợp cổng thanh toán điện tử (VNPay, Momo, ZaloPay), hiện chỉ hỗ trợ COD</a:t>
            </a:r>
          </a:p>
        </p:txBody>
      </p:sp>
      <p:sp>
        <p:nvSpPr>
          <p:cNvPr name="TextBox 7" id="7"/>
          <p:cNvSpPr txBox="true"/>
          <p:nvPr/>
        </p:nvSpPr>
        <p:spPr>
          <a:xfrm rot="0">
            <a:off x="1093705" y="947424"/>
            <a:ext cx="8115300" cy="142874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Hạn chế</a:t>
            </a:r>
          </a:p>
        </p:txBody>
      </p:sp>
      <p:sp>
        <p:nvSpPr>
          <p:cNvPr name="TextBox 8" id="8"/>
          <p:cNvSpPr txBox="true"/>
          <p:nvPr/>
        </p:nvSpPr>
        <p:spPr>
          <a:xfrm rot="0">
            <a:off x="1067342" y="4834999"/>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Quản lý vận chuyển: Chưa tích hợp API của các đơn vị vận chuyển (GHN, GHTK), mã vận đơn được nhập thủ công</a:t>
            </a:r>
          </a:p>
        </p:txBody>
      </p:sp>
      <p:sp>
        <p:nvSpPr>
          <p:cNvPr name="TextBox 9" id="9"/>
          <p:cNvSpPr txBox="true"/>
          <p:nvPr/>
        </p:nvSpPr>
        <p:spPr>
          <a:xfrm rot="0">
            <a:off x="1093705"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Hiệu năng: Chưa triển khai caching (Redis/Memory Cache) cho các truy vấn phổ biến, có thể ảnh hưởng hiệu suất khi lượng truy cập lớn</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Thanh toán trực tuyến: Chưa tích hợp cổng thanh toán điện tử (VNPay, Momo, ZaloPay), hiện chỉ hỗ trợ COD</a:t>
            </a:r>
          </a:p>
        </p:txBody>
      </p:sp>
      <p:sp>
        <p:nvSpPr>
          <p:cNvPr name="TextBox 7" id="7"/>
          <p:cNvSpPr txBox="true"/>
          <p:nvPr/>
        </p:nvSpPr>
        <p:spPr>
          <a:xfrm rot="0">
            <a:off x="1093705" y="947424"/>
            <a:ext cx="8115300" cy="142874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Hạn chế</a:t>
            </a:r>
          </a:p>
        </p:txBody>
      </p:sp>
      <p:sp>
        <p:nvSpPr>
          <p:cNvPr name="TextBox 8" id="8"/>
          <p:cNvSpPr txBox="true"/>
          <p:nvPr/>
        </p:nvSpPr>
        <p:spPr>
          <a:xfrm rot="0">
            <a:off x="1067342" y="4834999"/>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Quản lý vận chuyển: Chưa tích hợp API của các đơn vị vận chuyển (GHN, GHTK), mã vận đơn được nhập thủ công</a:t>
            </a:r>
          </a:p>
        </p:txBody>
      </p:sp>
      <p:sp>
        <p:nvSpPr>
          <p:cNvPr name="TextBox 9" id="9"/>
          <p:cNvSpPr txBox="true"/>
          <p:nvPr/>
        </p:nvSpPr>
        <p:spPr>
          <a:xfrm rot="0">
            <a:off x="1093705"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Hiệu năng: Chưa triển khai caching (Redis/Memory Cache) cho các truy vấn phổ biến, có thể ảnh hưởng hiệu suất khi lượng truy cập lớn</a:t>
            </a:r>
          </a:p>
        </p:txBody>
      </p:sp>
      <p:sp>
        <p:nvSpPr>
          <p:cNvPr name="TextBox 10" id="10"/>
          <p:cNvSpPr txBox="true"/>
          <p:nvPr/>
        </p:nvSpPr>
        <p:spPr>
          <a:xfrm rot="0">
            <a:off x="1077454" y="7708066"/>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Chức năng giao hang và cập nhật đơn hàng được đơn giản hóa thông qua cập nhật thủ công </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Thanh toán trực tuyến: Chưa tích hợp cổng thanh toán điện tử (VNPay, Momo, ZaloPay), hiện chỉ hỗ trợ COD</a:t>
            </a:r>
          </a:p>
        </p:txBody>
      </p:sp>
      <p:sp>
        <p:nvSpPr>
          <p:cNvPr name="TextBox 7" id="7"/>
          <p:cNvSpPr txBox="true"/>
          <p:nvPr/>
        </p:nvSpPr>
        <p:spPr>
          <a:xfrm rot="0">
            <a:off x="1093705" y="947424"/>
            <a:ext cx="8115300" cy="142874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Hạn chế</a:t>
            </a:r>
          </a:p>
        </p:txBody>
      </p:sp>
      <p:sp>
        <p:nvSpPr>
          <p:cNvPr name="TextBox 8" id="8"/>
          <p:cNvSpPr txBox="true"/>
          <p:nvPr/>
        </p:nvSpPr>
        <p:spPr>
          <a:xfrm rot="0">
            <a:off x="1067342" y="4834999"/>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Quản lý vận chuyển: Chưa tích hợp API của các đơn vị vận chuyển (GHN, GHTK), mã vận đơn được nhập thủ công</a:t>
            </a:r>
          </a:p>
        </p:txBody>
      </p:sp>
      <p:sp>
        <p:nvSpPr>
          <p:cNvPr name="TextBox 9" id="9"/>
          <p:cNvSpPr txBox="true"/>
          <p:nvPr/>
        </p:nvSpPr>
        <p:spPr>
          <a:xfrm rot="0">
            <a:off x="1093705"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Hiệu năng: Chưa triển khai caching (Redis/Memory Cache) cho các truy vấn phổ biến, có thể ảnh hưởng hiệu suất khi lượng truy cập lớn</a:t>
            </a:r>
          </a:p>
        </p:txBody>
      </p:sp>
      <p:sp>
        <p:nvSpPr>
          <p:cNvPr name="TextBox 10" id="10"/>
          <p:cNvSpPr txBox="true"/>
          <p:nvPr/>
        </p:nvSpPr>
        <p:spPr>
          <a:xfrm rot="0">
            <a:off x="9062924" y="3616160"/>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Tìm kiếm: Chưa tích hợp full-text search engine (Elasticsearch) nên khả năng tìm kiếm còn hạn chế.</a:t>
            </a:r>
          </a:p>
        </p:txBody>
      </p:sp>
      <p:sp>
        <p:nvSpPr>
          <p:cNvPr name="TextBox 11" id="11"/>
          <p:cNvSpPr txBox="true"/>
          <p:nvPr/>
        </p:nvSpPr>
        <p:spPr>
          <a:xfrm rot="0">
            <a:off x="1077454" y="7708066"/>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Chức năng giao hang và cập nhật đơn hàng được đơn giản hóa thông qua cập nhật thủ công </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Thanh toán trực tuyến: Chưa tích hợp cổng thanh toán điện tử (VNPay, Momo, ZaloPay), hiện chỉ hỗ trợ COD</a:t>
            </a:r>
          </a:p>
        </p:txBody>
      </p:sp>
      <p:sp>
        <p:nvSpPr>
          <p:cNvPr name="TextBox 7" id="7"/>
          <p:cNvSpPr txBox="true"/>
          <p:nvPr/>
        </p:nvSpPr>
        <p:spPr>
          <a:xfrm rot="0">
            <a:off x="1093705" y="947424"/>
            <a:ext cx="8115300" cy="142874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Hạn chế</a:t>
            </a:r>
          </a:p>
        </p:txBody>
      </p:sp>
      <p:sp>
        <p:nvSpPr>
          <p:cNvPr name="TextBox 8" id="8"/>
          <p:cNvSpPr txBox="true"/>
          <p:nvPr/>
        </p:nvSpPr>
        <p:spPr>
          <a:xfrm rot="0">
            <a:off x="1067342" y="4834999"/>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Quản lý vận chuyển: Chưa tích hợp API của các đơn vị vận chuyển (GHN, GHTK), mã vận đơn được nhập thủ công</a:t>
            </a:r>
          </a:p>
        </p:txBody>
      </p:sp>
      <p:sp>
        <p:nvSpPr>
          <p:cNvPr name="TextBox 9" id="9"/>
          <p:cNvSpPr txBox="true"/>
          <p:nvPr/>
        </p:nvSpPr>
        <p:spPr>
          <a:xfrm rot="0">
            <a:off x="1093705"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Hiệu năng: Chưa triển khai caching (Redis/Memory Cache) cho các truy vấn phổ biến, có thể ảnh hưởng hiệu suất khi lượng truy cập lớn</a:t>
            </a:r>
          </a:p>
        </p:txBody>
      </p:sp>
      <p:sp>
        <p:nvSpPr>
          <p:cNvPr name="TextBox 10" id="10"/>
          <p:cNvSpPr txBox="true"/>
          <p:nvPr/>
        </p:nvSpPr>
        <p:spPr>
          <a:xfrm rot="0">
            <a:off x="9062924" y="3616160"/>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Tìm kiếm: Chưa tích hợp full-text search engine (Elasticsearch) nên khả năng tìm kiếm còn hạn chế.</a:t>
            </a:r>
          </a:p>
        </p:txBody>
      </p:sp>
      <p:sp>
        <p:nvSpPr>
          <p:cNvPr name="TextBox 11" id="11"/>
          <p:cNvSpPr txBox="true"/>
          <p:nvPr/>
        </p:nvSpPr>
        <p:spPr>
          <a:xfrm rot="0">
            <a:off x="9062924" y="5153617"/>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Thông báo email: Chưa gửi email xác nhận đơn hàng,xác nhận người dung, thay đổi trạng thái đơn hàng cho khách hàng. </a:t>
            </a:r>
          </a:p>
        </p:txBody>
      </p:sp>
      <p:sp>
        <p:nvSpPr>
          <p:cNvPr name="TextBox 12" id="12"/>
          <p:cNvSpPr txBox="true"/>
          <p:nvPr/>
        </p:nvSpPr>
        <p:spPr>
          <a:xfrm rot="0">
            <a:off x="1077454" y="7708066"/>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Chức năng giao hang và cập nhật đơn hàng được đơn giản hóa thông qua cập nhật thủ công </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Thanh toán trực tuyến: Chưa tích hợp cổng thanh toán điện tử (VNPay, Momo, ZaloPay), hiện chỉ hỗ trợ COD</a:t>
            </a:r>
          </a:p>
        </p:txBody>
      </p:sp>
      <p:sp>
        <p:nvSpPr>
          <p:cNvPr name="TextBox 7" id="7"/>
          <p:cNvSpPr txBox="true"/>
          <p:nvPr/>
        </p:nvSpPr>
        <p:spPr>
          <a:xfrm rot="0">
            <a:off x="1093705" y="947424"/>
            <a:ext cx="8115300" cy="142874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Hạn chế</a:t>
            </a:r>
          </a:p>
        </p:txBody>
      </p:sp>
      <p:sp>
        <p:nvSpPr>
          <p:cNvPr name="TextBox 8" id="8"/>
          <p:cNvSpPr txBox="true"/>
          <p:nvPr/>
        </p:nvSpPr>
        <p:spPr>
          <a:xfrm rot="0">
            <a:off x="1067342" y="4834999"/>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Quản lý vận chuyển: Chưa tích hợp API của các đơn vị vận chuyển (GHN, GHTK), mã vận đơn được nhập thủ công</a:t>
            </a:r>
          </a:p>
        </p:txBody>
      </p:sp>
      <p:sp>
        <p:nvSpPr>
          <p:cNvPr name="TextBox 9" id="9"/>
          <p:cNvSpPr txBox="true"/>
          <p:nvPr/>
        </p:nvSpPr>
        <p:spPr>
          <a:xfrm rot="0">
            <a:off x="1093705"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Hiệu năng: Chưa triển khai caching (Redis/Memory Cache) cho các truy vấn phổ biến, có thể ảnh hưởng hiệu suất khi lượng truy cập lớn</a:t>
            </a:r>
          </a:p>
        </p:txBody>
      </p:sp>
      <p:sp>
        <p:nvSpPr>
          <p:cNvPr name="TextBox 10" id="10"/>
          <p:cNvSpPr txBox="true"/>
          <p:nvPr/>
        </p:nvSpPr>
        <p:spPr>
          <a:xfrm rot="0">
            <a:off x="9062924" y="3616160"/>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Tìm kiếm: Chưa tích hợp full-text search engine (Elasticsearch) nên khả năng tìm kiếm còn hạn chế.</a:t>
            </a:r>
          </a:p>
        </p:txBody>
      </p:sp>
      <p:sp>
        <p:nvSpPr>
          <p:cNvPr name="TextBox 11" id="11"/>
          <p:cNvSpPr txBox="true"/>
          <p:nvPr/>
        </p:nvSpPr>
        <p:spPr>
          <a:xfrm rot="0">
            <a:off x="9062924" y="5153617"/>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Thông báo email: Chưa gửi email xác nhận đơn hàng,xác nhận người dung, thay đổi trạng thái đơn hàng cho khách hàng. </a:t>
            </a:r>
          </a:p>
        </p:txBody>
      </p:sp>
      <p:sp>
        <p:nvSpPr>
          <p:cNvPr name="TextBox 12" id="12"/>
          <p:cNvSpPr txBox="true"/>
          <p:nvPr/>
        </p:nvSpPr>
        <p:spPr>
          <a:xfrm rot="0">
            <a:off x="9062924"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Chưa tích hợp liên kết ngân hang, việc rút tiền vẫn còn thực hiện thủ công bởi quản trị viên hệ thống </a:t>
            </a:r>
          </a:p>
        </p:txBody>
      </p:sp>
      <p:sp>
        <p:nvSpPr>
          <p:cNvPr name="TextBox 13" id="13"/>
          <p:cNvSpPr txBox="true"/>
          <p:nvPr/>
        </p:nvSpPr>
        <p:spPr>
          <a:xfrm rot="0">
            <a:off x="1077454" y="7708066"/>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Chức năng giao hang và cập nhật đơn hàng được đơn giản hóa thông qua cập nhật thủ công </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Thanh toán trực tuyến: Chưa tích hợp cổng thanh toán điện tử (VNPay, Momo, ZaloPay), hiện chỉ hỗ trợ COD</a:t>
            </a:r>
          </a:p>
        </p:txBody>
      </p:sp>
      <p:sp>
        <p:nvSpPr>
          <p:cNvPr name="TextBox 7" id="7"/>
          <p:cNvSpPr txBox="true"/>
          <p:nvPr/>
        </p:nvSpPr>
        <p:spPr>
          <a:xfrm rot="0">
            <a:off x="1093705" y="947424"/>
            <a:ext cx="8115300" cy="1428749"/>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Hạn chế</a:t>
            </a:r>
          </a:p>
        </p:txBody>
      </p:sp>
      <p:sp>
        <p:nvSpPr>
          <p:cNvPr name="TextBox 8" id="8"/>
          <p:cNvSpPr txBox="true"/>
          <p:nvPr/>
        </p:nvSpPr>
        <p:spPr>
          <a:xfrm rot="0">
            <a:off x="1067342" y="4834999"/>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Quản lý vận chuyển: Chưa tích hợp API của các đơn vị vận chuyển (GHN, GHTK), mã vận đơn được nhập thủ công</a:t>
            </a:r>
          </a:p>
        </p:txBody>
      </p:sp>
      <p:sp>
        <p:nvSpPr>
          <p:cNvPr name="TextBox 9" id="9"/>
          <p:cNvSpPr txBox="true"/>
          <p:nvPr/>
        </p:nvSpPr>
        <p:spPr>
          <a:xfrm rot="0">
            <a:off x="1093705"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Hiệu năng: Chưa triển khai caching (Redis/Memory Cache) cho các truy vấn phổ biến, có thể ảnh hưởng hiệu suất khi lượng truy cập lớn</a:t>
            </a:r>
          </a:p>
        </p:txBody>
      </p:sp>
      <p:sp>
        <p:nvSpPr>
          <p:cNvPr name="TextBox 10" id="10"/>
          <p:cNvSpPr txBox="true"/>
          <p:nvPr/>
        </p:nvSpPr>
        <p:spPr>
          <a:xfrm rot="0">
            <a:off x="9062924" y="3616160"/>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Tìm kiếm: Chưa tích hợp full-text search engine (Elasticsearch) nên khả năng tìm kiếm còn hạn chế.</a:t>
            </a:r>
          </a:p>
        </p:txBody>
      </p:sp>
      <p:sp>
        <p:nvSpPr>
          <p:cNvPr name="TextBox 11" id="11"/>
          <p:cNvSpPr txBox="true"/>
          <p:nvPr/>
        </p:nvSpPr>
        <p:spPr>
          <a:xfrm rot="0">
            <a:off x="9062924" y="5153617"/>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Thông báo email: Chưa gửi email xác nhận đơn hàng,xác nhận người dung, thay đổi trạng thái đơn hàng cho khách hàng. </a:t>
            </a:r>
          </a:p>
        </p:txBody>
      </p:sp>
      <p:sp>
        <p:nvSpPr>
          <p:cNvPr name="TextBox 12" id="12"/>
          <p:cNvSpPr txBox="true"/>
          <p:nvPr/>
        </p:nvSpPr>
        <p:spPr>
          <a:xfrm rot="0">
            <a:off x="9062924"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Chưa tích hợp liên kết ngân hang, việc rút tiền vẫn còn thực hiện thủ công bởi quản trị viên hệ thống </a:t>
            </a:r>
          </a:p>
        </p:txBody>
      </p:sp>
      <p:sp>
        <p:nvSpPr>
          <p:cNvPr name="TextBox 13" id="13"/>
          <p:cNvSpPr txBox="true"/>
          <p:nvPr/>
        </p:nvSpPr>
        <p:spPr>
          <a:xfrm rot="0">
            <a:off x="9111678" y="7680378"/>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Chưa phát triển đầy đủ các tính năng như khôi phục mật khẩu,điểm thành viên sàn. </a:t>
            </a:r>
          </a:p>
        </p:txBody>
      </p:sp>
      <p:sp>
        <p:nvSpPr>
          <p:cNvPr name="TextBox 14" id="14"/>
          <p:cNvSpPr txBox="true"/>
          <p:nvPr/>
        </p:nvSpPr>
        <p:spPr>
          <a:xfrm rot="0">
            <a:off x="1077454" y="7708066"/>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Chức năng giao hang và cập nhật đơn hàng được đơn giản hóa thông qua cập nhật thủ công </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API vận chuyển (GHN/GHTK) để tự động tính phí ship theo địa chỉ và theo dõi đơn hàng chuyên nghiệp</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Hướng phát triển </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API vận chuyển (GHN/GHTK) để tự động tính phí ship theo địa chỉ và theo dõi đơn hàng chuyên nghiệp</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Hướng phát triển </a:t>
            </a:r>
          </a:p>
        </p:txBody>
      </p:sp>
      <p:sp>
        <p:nvSpPr>
          <p:cNvPr name="TextBox 9" id="9"/>
          <p:cNvSpPr txBox="true"/>
          <p:nvPr/>
        </p:nvSpPr>
        <p:spPr>
          <a:xfrm rot="0">
            <a:off x="1067342" y="4834999"/>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Phát triển ứng dụng mobile (React Native hoặc Flutter) kết hợp với API backend</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API vận chuyển (GHN/GHTK) để tự động tính phí ship theo địa chỉ và theo dõi đơn hàng chuyên nghiệp</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Hướng phát triển </a:t>
            </a:r>
          </a:p>
        </p:txBody>
      </p:sp>
      <p:sp>
        <p:nvSpPr>
          <p:cNvPr name="TextBox 9" id="9"/>
          <p:cNvSpPr txBox="true"/>
          <p:nvPr/>
        </p:nvSpPr>
        <p:spPr>
          <a:xfrm rot="0">
            <a:off x="1067342" y="4834999"/>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Phát triển ứng dụng mobile (React Native hoặc Flutter) kết hợp với API backend</a:t>
            </a:r>
          </a:p>
        </p:txBody>
      </p:sp>
      <p:sp>
        <p:nvSpPr>
          <p:cNvPr name="TextBox 10" id="10"/>
          <p:cNvSpPr txBox="true"/>
          <p:nvPr/>
        </p:nvSpPr>
        <p:spPr>
          <a:xfrm rot="0">
            <a:off x="1093705"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Triển khai hệ thống gợi ý sản phẩm (Recommendation Engine) dựa trên lịch sử mua hàng và hành vi duyệt web. </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API vận chuyển (GHN/GHTK) để tự động tính phí ship theo địa chỉ và theo dõi đơn hàng chuyên nghiệp</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Hướng phát triển </a:t>
            </a:r>
          </a:p>
        </p:txBody>
      </p:sp>
      <p:sp>
        <p:nvSpPr>
          <p:cNvPr name="TextBox 9" id="9"/>
          <p:cNvSpPr txBox="true"/>
          <p:nvPr/>
        </p:nvSpPr>
        <p:spPr>
          <a:xfrm rot="0">
            <a:off x="1067342" y="4834999"/>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Phát triển ứng dụng mobile (React Native hoặc Flutter) kết hợp với API backend</a:t>
            </a:r>
          </a:p>
        </p:txBody>
      </p:sp>
      <p:sp>
        <p:nvSpPr>
          <p:cNvPr name="TextBox 10" id="10"/>
          <p:cNvSpPr txBox="true"/>
          <p:nvPr/>
        </p:nvSpPr>
        <p:spPr>
          <a:xfrm rot="0">
            <a:off x="1093705"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Triển khai hệ thống gợi ý sản phẩm (Recommendation Engine) dựa trên lịch sử mua hàng và hành vi duyệt web. </a:t>
            </a:r>
          </a:p>
        </p:txBody>
      </p:sp>
      <p:sp>
        <p:nvSpPr>
          <p:cNvPr name="TextBox 11" id="11"/>
          <p:cNvSpPr txBox="true"/>
          <p:nvPr/>
        </p:nvSpPr>
        <p:spPr>
          <a:xfrm rot="0">
            <a:off x="9062924" y="3616160"/>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Thêm tính năng flash sale, deal theo giờ để tăng tính cạnh tranh cho nền tảng</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sp>
        <p:nvSpPr>
          <p:cNvPr name="Freeform 2" id="2"/>
          <p:cNvSpPr/>
          <p:nvPr/>
        </p:nvSpPr>
        <p:spPr>
          <a:xfrm flipH="true" flipV="true" rot="0">
            <a:off x="-1626822" y="9039188"/>
            <a:ext cx="10624145" cy="1468064"/>
          </a:xfrm>
          <a:custGeom>
            <a:avLst/>
            <a:gdLst/>
            <a:ahLst/>
            <a:cxnLst/>
            <a:rect r="r" b="b" t="t" l="l"/>
            <a:pathLst>
              <a:path h="1468064" w="10624145">
                <a:moveTo>
                  <a:pt x="10624145" y="1468064"/>
                </a:moveTo>
                <a:lnTo>
                  <a:pt x="0" y="1468064"/>
                </a:lnTo>
                <a:lnTo>
                  <a:pt x="0" y="0"/>
                </a:lnTo>
                <a:lnTo>
                  <a:pt x="10624145" y="0"/>
                </a:lnTo>
                <a:lnTo>
                  <a:pt x="10624145"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9290677" y="9039188"/>
            <a:ext cx="10624145" cy="1468064"/>
          </a:xfrm>
          <a:custGeom>
            <a:avLst/>
            <a:gdLst/>
            <a:ahLst/>
            <a:cxnLst/>
            <a:rect r="r" b="b" t="t" l="l"/>
            <a:pathLst>
              <a:path h="1468064" w="10624145">
                <a:moveTo>
                  <a:pt x="0" y="1468064"/>
                </a:moveTo>
                <a:lnTo>
                  <a:pt x="10624145" y="1468064"/>
                </a:lnTo>
                <a:lnTo>
                  <a:pt x="10624145"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626822" y="-216944"/>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290677" y="-216944"/>
            <a:ext cx="10624145" cy="1468064"/>
          </a:xfrm>
          <a:custGeom>
            <a:avLst/>
            <a:gdLst/>
            <a:ahLst/>
            <a:cxnLst/>
            <a:rect r="r" b="b" t="t" l="l"/>
            <a:pathLst>
              <a:path h="1468064" w="10624145">
                <a:moveTo>
                  <a:pt x="0" y="0"/>
                </a:moveTo>
                <a:lnTo>
                  <a:pt x="10624145" y="0"/>
                </a:lnTo>
                <a:lnTo>
                  <a:pt x="10624145" y="1468064"/>
                </a:lnTo>
                <a:lnTo>
                  <a:pt x="0" y="14680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true" rot="1594890">
            <a:off x="-339050" y="6854575"/>
            <a:ext cx="4489933" cy="2563343"/>
          </a:xfrm>
          <a:custGeom>
            <a:avLst/>
            <a:gdLst/>
            <a:ahLst/>
            <a:cxnLst/>
            <a:rect r="r" b="b" t="t" l="l"/>
            <a:pathLst>
              <a:path h="2563343" w="4489933">
                <a:moveTo>
                  <a:pt x="0" y="2563343"/>
                </a:moveTo>
                <a:lnTo>
                  <a:pt x="4489933" y="2563343"/>
                </a:lnTo>
                <a:lnTo>
                  <a:pt x="4489933" y="0"/>
                </a:lnTo>
                <a:lnTo>
                  <a:pt x="0" y="0"/>
                </a:lnTo>
                <a:lnTo>
                  <a:pt x="0" y="2563343"/>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1077454" y="3626272"/>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Tích hợp API vận chuyển (GHN/GHTK) để tự động tính phí ship theo địa chỉ và theo dõi đơn hàng chuyên nghiệp</a:t>
            </a:r>
          </a:p>
        </p:txBody>
      </p:sp>
      <p:sp>
        <p:nvSpPr>
          <p:cNvPr name="TextBox 8" id="8"/>
          <p:cNvSpPr txBox="true"/>
          <p:nvPr/>
        </p:nvSpPr>
        <p:spPr>
          <a:xfrm rot="0">
            <a:off x="1093705" y="947424"/>
            <a:ext cx="8115300" cy="2562224"/>
          </a:xfrm>
          <a:prstGeom prst="rect">
            <a:avLst/>
          </a:prstGeom>
        </p:spPr>
        <p:txBody>
          <a:bodyPr anchor="t" rtlCol="false" tIns="0" lIns="0" bIns="0" rIns="0">
            <a:spAutoFit/>
          </a:bodyPr>
          <a:lstStyle/>
          <a:p>
            <a:pPr algn="l">
              <a:lnSpc>
                <a:spcPts val="8999"/>
              </a:lnSpc>
            </a:pPr>
            <a:r>
              <a:rPr lang="en-US" sz="9999">
                <a:solidFill>
                  <a:srgbClr val="175286"/>
                </a:solidFill>
                <a:latin typeface="Funtastic"/>
                <a:ea typeface="Funtastic"/>
                <a:cs typeface="Funtastic"/>
                <a:sym typeface="Funtastic"/>
              </a:rPr>
              <a:t>Hướng phát triển </a:t>
            </a:r>
          </a:p>
        </p:txBody>
      </p:sp>
      <p:sp>
        <p:nvSpPr>
          <p:cNvPr name="TextBox 9" id="9"/>
          <p:cNvSpPr txBox="true"/>
          <p:nvPr/>
        </p:nvSpPr>
        <p:spPr>
          <a:xfrm rot="0">
            <a:off x="1067342" y="4834999"/>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Phát triển ứng dụng mobile (React Native hoặc Flutter) kết hợp với API backend</a:t>
            </a:r>
          </a:p>
        </p:txBody>
      </p:sp>
      <p:sp>
        <p:nvSpPr>
          <p:cNvPr name="TextBox 10" id="10"/>
          <p:cNvSpPr txBox="true"/>
          <p:nvPr/>
        </p:nvSpPr>
        <p:spPr>
          <a:xfrm rot="0">
            <a:off x="1093705" y="6357893"/>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Triển khai hệ thống gợi ý sản phẩm (Recommendation Engine) dựa trên lịch sử mua hàng và hành vi duyệt web. </a:t>
            </a:r>
          </a:p>
        </p:txBody>
      </p:sp>
      <p:sp>
        <p:nvSpPr>
          <p:cNvPr name="TextBox 11" id="11"/>
          <p:cNvSpPr txBox="true"/>
          <p:nvPr/>
        </p:nvSpPr>
        <p:spPr>
          <a:xfrm rot="0">
            <a:off x="9062924" y="3616160"/>
            <a:ext cx="7397816" cy="647532"/>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Thêm tính năng flash sale, deal theo giờ để tăng tính cạnh tranh cho nền tảng</a:t>
            </a:r>
          </a:p>
        </p:txBody>
      </p:sp>
      <p:sp>
        <p:nvSpPr>
          <p:cNvPr name="TextBox 12" id="12"/>
          <p:cNvSpPr txBox="true"/>
          <p:nvPr/>
        </p:nvSpPr>
        <p:spPr>
          <a:xfrm rot="0">
            <a:off x="9062924" y="5153617"/>
            <a:ext cx="7397816" cy="966151"/>
          </a:xfrm>
          <a:prstGeom prst="rect">
            <a:avLst/>
          </a:prstGeom>
        </p:spPr>
        <p:txBody>
          <a:bodyPr anchor="t" rtlCol="false" tIns="0" lIns="0" bIns="0" rIns="0">
            <a:spAutoFit/>
          </a:bodyPr>
          <a:lstStyle/>
          <a:p>
            <a:pPr algn="just">
              <a:lnSpc>
                <a:spcPts val="2541"/>
              </a:lnSpc>
            </a:pPr>
            <a:r>
              <a:rPr lang="en-US" sz="2310">
                <a:solidFill>
                  <a:srgbClr val="175286"/>
                </a:solidFill>
                <a:latin typeface="Montserrat"/>
                <a:ea typeface="Montserrat"/>
                <a:cs typeface="Montserrat"/>
                <a:sym typeface="Montserrat"/>
              </a:rPr>
              <a:t>Triển khai CI/CD pipeline và container hóa với Docker để đơn giản hóa quá trình deploy lên production. </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bg>
      <p:bgPr>
        <a:solidFill>
          <a:srgbClr val="ECFDFF"/>
        </a:solidFill>
      </p:bgPr>
    </p:bg>
    <p:spTree>
      <p:nvGrpSpPr>
        <p:cNvPr id="1" name=""/>
        <p:cNvGrpSpPr/>
        <p:nvPr/>
      </p:nvGrpSpPr>
      <p:grpSpPr>
        <a:xfrm>
          <a:off x="0" y="0"/>
          <a:ext cx="0" cy="0"/>
          <a:chOff x="0" y="0"/>
          <a:chExt cx="0" cy="0"/>
        </a:xfrm>
      </p:grpSpPr>
      <p:grpSp>
        <p:nvGrpSpPr>
          <p:cNvPr name="Group 2" id="2"/>
          <p:cNvGrpSpPr/>
          <p:nvPr/>
        </p:nvGrpSpPr>
        <p:grpSpPr>
          <a:xfrm rot="0">
            <a:off x="3377121" y="2161088"/>
            <a:ext cx="11533757" cy="5964824"/>
            <a:chOff x="0" y="0"/>
            <a:chExt cx="3037697" cy="1570982"/>
          </a:xfrm>
        </p:grpSpPr>
        <p:sp>
          <p:nvSpPr>
            <p:cNvPr name="Freeform 3" id="3"/>
            <p:cNvSpPr/>
            <p:nvPr/>
          </p:nvSpPr>
          <p:spPr>
            <a:xfrm flipH="false" flipV="false" rot="0">
              <a:off x="0" y="0"/>
              <a:ext cx="3037697" cy="1570983"/>
            </a:xfrm>
            <a:custGeom>
              <a:avLst/>
              <a:gdLst/>
              <a:ahLst/>
              <a:cxnLst/>
              <a:rect r="r" b="b" t="t" l="l"/>
              <a:pathLst>
                <a:path h="1570983" w="3037697">
                  <a:moveTo>
                    <a:pt x="33982" y="0"/>
                  </a:moveTo>
                  <a:lnTo>
                    <a:pt x="3003716" y="0"/>
                  </a:lnTo>
                  <a:cubicBezTo>
                    <a:pt x="3012728" y="0"/>
                    <a:pt x="3021372" y="3580"/>
                    <a:pt x="3027744" y="9953"/>
                  </a:cubicBezTo>
                  <a:cubicBezTo>
                    <a:pt x="3034117" y="16326"/>
                    <a:pt x="3037697" y="24969"/>
                    <a:pt x="3037697" y="33982"/>
                  </a:cubicBezTo>
                  <a:lnTo>
                    <a:pt x="3037697" y="1537001"/>
                  </a:lnTo>
                  <a:cubicBezTo>
                    <a:pt x="3037697" y="1555768"/>
                    <a:pt x="3022483" y="1570983"/>
                    <a:pt x="3003716" y="1570983"/>
                  </a:cubicBezTo>
                  <a:lnTo>
                    <a:pt x="33982" y="1570983"/>
                  </a:lnTo>
                  <a:cubicBezTo>
                    <a:pt x="24969" y="1570983"/>
                    <a:pt x="16326" y="1567402"/>
                    <a:pt x="9953" y="1561030"/>
                  </a:cubicBezTo>
                  <a:cubicBezTo>
                    <a:pt x="3580" y="1554657"/>
                    <a:pt x="0" y="1546013"/>
                    <a:pt x="0" y="1537001"/>
                  </a:cubicBezTo>
                  <a:lnTo>
                    <a:pt x="0" y="33982"/>
                  </a:lnTo>
                  <a:cubicBezTo>
                    <a:pt x="0" y="24969"/>
                    <a:pt x="3580" y="16326"/>
                    <a:pt x="9953" y="9953"/>
                  </a:cubicBezTo>
                  <a:cubicBezTo>
                    <a:pt x="16326" y="3580"/>
                    <a:pt x="24969" y="0"/>
                    <a:pt x="33982" y="0"/>
                  </a:cubicBezTo>
                  <a:close/>
                </a:path>
              </a:pathLst>
            </a:custGeom>
            <a:ln w="95250" cap="rnd">
              <a:solidFill>
                <a:srgbClr val="175286"/>
              </a:solidFill>
              <a:prstDash val="solid"/>
              <a:round/>
            </a:ln>
          </p:spPr>
        </p:sp>
        <p:sp>
          <p:nvSpPr>
            <p:cNvPr name="TextBox 4" id="4"/>
            <p:cNvSpPr txBox="true"/>
            <p:nvPr/>
          </p:nvSpPr>
          <p:spPr>
            <a:xfrm>
              <a:off x="0" y="-38100"/>
              <a:ext cx="3037697" cy="1609082"/>
            </a:xfrm>
            <a:prstGeom prst="rect">
              <a:avLst/>
            </a:prstGeom>
          </p:spPr>
          <p:txBody>
            <a:bodyPr anchor="ctr" rtlCol="false" tIns="50800" lIns="50800" bIns="50800" rIns="50800"/>
            <a:lstStyle/>
            <a:p>
              <a:pPr algn="ctr">
                <a:lnSpc>
                  <a:spcPts val="2659"/>
                </a:lnSpc>
                <a:spcBef>
                  <a:spcPct val="0"/>
                </a:spcBef>
              </a:pPr>
            </a:p>
          </p:txBody>
        </p:sp>
      </p:grpSp>
      <p:sp>
        <p:nvSpPr>
          <p:cNvPr name="TextBox 5" id="5"/>
          <p:cNvSpPr txBox="true"/>
          <p:nvPr/>
        </p:nvSpPr>
        <p:spPr>
          <a:xfrm rot="0">
            <a:off x="3554254" y="3162300"/>
            <a:ext cx="11179492" cy="4105274"/>
          </a:xfrm>
          <a:prstGeom prst="rect">
            <a:avLst/>
          </a:prstGeom>
        </p:spPr>
        <p:txBody>
          <a:bodyPr anchor="t" rtlCol="false" tIns="0" lIns="0" bIns="0" rIns="0">
            <a:spAutoFit/>
          </a:bodyPr>
          <a:lstStyle/>
          <a:p>
            <a:pPr algn="ctr">
              <a:lnSpc>
                <a:spcPts val="14399"/>
              </a:lnSpc>
            </a:pPr>
            <a:r>
              <a:rPr lang="en-US" sz="15999">
                <a:solidFill>
                  <a:srgbClr val="175286"/>
                </a:solidFill>
                <a:latin typeface="Funtastic"/>
                <a:ea typeface="Funtastic"/>
                <a:cs typeface="Funtastic"/>
                <a:sym typeface="Funtastic"/>
              </a:rPr>
              <a:t>THANK</a:t>
            </a:r>
          </a:p>
          <a:p>
            <a:pPr algn="ctr">
              <a:lnSpc>
                <a:spcPts val="14399"/>
              </a:lnSpc>
            </a:pPr>
            <a:r>
              <a:rPr lang="en-US" sz="15999">
                <a:solidFill>
                  <a:srgbClr val="175286"/>
                </a:solidFill>
                <a:latin typeface="Funtastic"/>
                <a:ea typeface="Funtastic"/>
                <a:cs typeface="Funtastic"/>
                <a:sym typeface="Funtastic"/>
              </a:rPr>
              <a:t>YOU </a:t>
            </a:r>
          </a:p>
        </p:txBody>
      </p:sp>
      <p:sp>
        <p:nvSpPr>
          <p:cNvPr name="Freeform 6" id="6"/>
          <p:cNvSpPr/>
          <p:nvPr/>
        </p:nvSpPr>
        <p:spPr>
          <a:xfrm flipH="true" flipV="false" rot="0">
            <a:off x="-1934951" y="-211543"/>
            <a:ext cx="10624145" cy="1468064"/>
          </a:xfrm>
          <a:custGeom>
            <a:avLst/>
            <a:gdLst/>
            <a:ahLst/>
            <a:cxnLst/>
            <a:rect r="r" b="b" t="t" l="l"/>
            <a:pathLst>
              <a:path h="1468064" w="10624145">
                <a:moveTo>
                  <a:pt x="10624145" y="0"/>
                </a:moveTo>
                <a:lnTo>
                  <a:pt x="0" y="0"/>
                </a:lnTo>
                <a:lnTo>
                  <a:pt x="0" y="1468064"/>
                </a:lnTo>
                <a:lnTo>
                  <a:pt x="10624145" y="1468064"/>
                </a:lnTo>
                <a:lnTo>
                  <a:pt x="1062414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true" rot="0">
            <a:off x="8982549" y="9039188"/>
            <a:ext cx="10624145" cy="1468064"/>
          </a:xfrm>
          <a:custGeom>
            <a:avLst/>
            <a:gdLst/>
            <a:ahLst/>
            <a:cxnLst/>
            <a:rect r="r" b="b" t="t" l="l"/>
            <a:pathLst>
              <a:path h="1468064" w="10624145">
                <a:moveTo>
                  <a:pt x="0" y="1468064"/>
                </a:moveTo>
                <a:lnTo>
                  <a:pt x="10624144" y="1468064"/>
                </a:lnTo>
                <a:lnTo>
                  <a:pt x="10624144" y="0"/>
                </a:lnTo>
                <a:lnTo>
                  <a:pt x="0" y="0"/>
                </a:lnTo>
                <a:lnTo>
                  <a:pt x="0" y="146806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547271">
            <a:off x="-91498" y="1545289"/>
            <a:ext cx="4489933" cy="2563343"/>
          </a:xfrm>
          <a:custGeom>
            <a:avLst/>
            <a:gdLst/>
            <a:ahLst/>
            <a:cxnLst/>
            <a:rect r="r" b="b" t="t" l="l"/>
            <a:pathLst>
              <a:path h="2563343" w="4489933">
                <a:moveTo>
                  <a:pt x="0" y="0"/>
                </a:moveTo>
                <a:lnTo>
                  <a:pt x="4489933" y="0"/>
                </a:lnTo>
                <a:lnTo>
                  <a:pt x="4489933" y="2563344"/>
                </a:lnTo>
                <a:lnTo>
                  <a:pt x="0" y="256334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293726">
            <a:off x="14205616" y="6178404"/>
            <a:ext cx="4489933" cy="2563343"/>
          </a:xfrm>
          <a:custGeom>
            <a:avLst/>
            <a:gdLst/>
            <a:ahLst/>
            <a:cxnLst/>
            <a:rect r="r" b="b" t="t" l="l"/>
            <a:pathLst>
              <a:path h="2563343" w="4489933">
                <a:moveTo>
                  <a:pt x="4489933" y="2563344"/>
                </a:moveTo>
                <a:lnTo>
                  <a:pt x="0" y="2563344"/>
                </a:lnTo>
                <a:lnTo>
                  <a:pt x="0" y="0"/>
                </a:lnTo>
                <a:lnTo>
                  <a:pt x="4489933" y="0"/>
                </a:lnTo>
                <a:lnTo>
                  <a:pt x="4489933" y="2563344"/>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3202338">
            <a:off x="-903036" y="7764069"/>
            <a:ext cx="4318969" cy="4114800"/>
          </a:xfrm>
          <a:custGeom>
            <a:avLst/>
            <a:gdLst/>
            <a:ahLst/>
            <a:cxnLst/>
            <a:rect r="r" b="b" t="t" l="l"/>
            <a:pathLst>
              <a:path h="4114800" w="4318969">
                <a:moveTo>
                  <a:pt x="0" y="0"/>
                </a:moveTo>
                <a:lnTo>
                  <a:pt x="4318969" y="0"/>
                </a:lnTo>
                <a:lnTo>
                  <a:pt x="431896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5160977" y="7619702"/>
            <a:ext cx="1496813" cy="1434219"/>
          </a:xfrm>
          <a:custGeom>
            <a:avLst/>
            <a:gdLst/>
            <a:ahLst/>
            <a:cxnLst/>
            <a:rect r="r" b="b" t="t" l="l"/>
            <a:pathLst>
              <a:path h="1434219" w="1496813">
                <a:moveTo>
                  <a:pt x="0" y="0"/>
                </a:moveTo>
                <a:lnTo>
                  <a:pt x="1496813" y="0"/>
                </a:lnTo>
                <a:lnTo>
                  <a:pt x="1496813" y="1434219"/>
                </a:lnTo>
                <a:lnTo>
                  <a:pt x="0" y="14342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3202338">
            <a:off x="15099815" y="-800879"/>
            <a:ext cx="4318969" cy="4114800"/>
          </a:xfrm>
          <a:custGeom>
            <a:avLst/>
            <a:gdLst/>
            <a:ahLst/>
            <a:cxnLst/>
            <a:rect r="r" b="b" t="t" l="l"/>
            <a:pathLst>
              <a:path h="4114800" w="4318969">
                <a:moveTo>
                  <a:pt x="0" y="0"/>
                </a:moveTo>
                <a:lnTo>
                  <a:pt x="4318970" y="0"/>
                </a:lnTo>
                <a:lnTo>
                  <a:pt x="4318970"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2797808" y="1443978"/>
            <a:ext cx="1496813" cy="1434219"/>
          </a:xfrm>
          <a:custGeom>
            <a:avLst/>
            <a:gdLst/>
            <a:ahLst/>
            <a:cxnLst/>
            <a:rect r="r" b="b" t="t" l="l"/>
            <a:pathLst>
              <a:path h="1434219" w="1496813">
                <a:moveTo>
                  <a:pt x="0" y="0"/>
                </a:moveTo>
                <a:lnTo>
                  <a:pt x="1496813" y="0"/>
                </a:lnTo>
                <a:lnTo>
                  <a:pt x="1496813" y="1434220"/>
                </a:lnTo>
                <a:lnTo>
                  <a:pt x="0" y="14342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DAHNl7uYr4c</dc:identifier>
  <dcterms:modified xsi:type="dcterms:W3CDTF">2011-08-01T06:04:30Z</dcterms:modified>
  <cp:revision>1</cp:revision>
  <dc:title>Blue and Yellow Illustrative Group Project Presentation</dc:title>
</cp:coreProperties>
</file>